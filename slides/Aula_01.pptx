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6858000" cx="12192000"/>
  <p:notesSz cx="6858000" cy="9144000"/>
  <p:embeddedFontLst>
    <p:embeddedFont>
      <p:font typeface="Poppins"/>
      <p:regular r:id="rId42"/>
      <p:bold r:id="rId43"/>
      <p:italic r:id="rId44"/>
      <p:boldItalic r:id="rId45"/>
    </p:embeddedFont>
    <p:embeddedFont>
      <p:font typeface="Poppins Light"/>
      <p:regular r:id="rId46"/>
      <p:bold r:id="rId47"/>
      <p:italic r:id="rId48"/>
      <p:boldItalic r:id="rId49"/>
    </p:embeddedFont>
    <p:embeddedFont>
      <p:font typeface="Poppins SemiBold"/>
      <p:regular r:id="rId50"/>
      <p:bold r:id="rId51"/>
      <p:italic r:id="rId52"/>
      <p:boldItalic r:id="rId53"/>
    </p:embeddedFont>
    <p:embeddedFont>
      <p:font typeface="Poppins ExtraLight"/>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gI6fDCXpEBv5YOHTyFtvE9QShK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font" Target="fonts/Poppins-regular.fntdata"/><Relationship Id="rId41" Type="http://schemas.openxmlformats.org/officeDocument/2006/relationships/slide" Target="slides/slide37.xml"/><Relationship Id="rId44" Type="http://schemas.openxmlformats.org/officeDocument/2006/relationships/font" Target="fonts/Poppins-italic.fntdata"/><Relationship Id="rId43" Type="http://schemas.openxmlformats.org/officeDocument/2006/relationships/font" Target="fonts/Poppins-bold.fntdata"/><Relationship Id="rId46" Type="http://schemas.openxmlformats.org/officeDocument/2006/relationships/font" Target="fonts/PoppinsLight-regular.fntdata"/><Relationship Id="rId45"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PoppinsLight-italic.fntdata"/><Relationship Id="rId47" Type="http://schemas.openxmlformats.org/officeDocument/2006/relationships/font" Target="fonts/PoppinsLight-bold.fntdata"/><Relationship Id="rId49" Type="http://schemas.openxmlformats.org/officeDocument/2006/relationships/font" Target="fonts/PoppinsLigh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PoppinsSemiBold-bold.fntdata"/><Relationship Id="rId50" Type="http://schemas.openxmlformats.org/officeDocument/2006/relationships/font" Target="fonts/PoppinsSemiBold-regular.fntdata"/><Relationship Id="rId53" Type="http://schemas.openxmlformats.org/officeDocument/2006/relationships/font" Target="fonts/PoppinsSemiBold-boldItalic.fntdata"/><Relationship Id="rId52" Type="http://schemas.openxmlformats.org/officeDocument/2006/relationships/font" Target="fonts/PoppinsSemiBold-italic.fntdata"/><Relationship Id="rId11" Type="http://schemas.openxmlformats.org/officeDocument/2006/relationships/slide" Target="slides/slide7.xml"/><Relationship Id="rId55" Type="http://schemas.openxmlformats.org/officeDocument/2006/relationships/font" Target="fonts/PoppinsExtraLight-bold.fntdata"/><Relationship Id="rId10" Type="http://schemas.openxmlformats.org/officeDocument/2006/relationships/slide" Target="slides/slide6.xml"/><Relationship Id="rId54" Type="http://schemas.openxmlformats.org/officeDocument/2006/relationships/font" Target="fonts/PoppinsExtraLight-regular.fntdata"/><Relationship Id="rId13" Type="http://schemas.openxmlformats.org/officeDocument/2006/relationships/slide" Target="slides/slide9.xml"/><Relationship Id="rId57" Type="http://schemas.openxmlformats.org/officeDocument/2006/relationships/font" Target="fonts/PoppinsExtraLight-boldItalic.fntdata"/><Relationship Id="rId12" Type="http://schemas.openxmlformats.org/officeDocument/2006/relationships/slide" Target="slides/slide8.xml"/><Relationship Id="rId56" Type="http://schemas.openxmlformats.org/officeDocument/2006/relationships/font" Target="fonts/PoppinsExtraLight-italic.fntdata"/><Relationship Id="rId15" Type="http://schemas.openxmlformats.org/officeDocument/2006/relationships/slide" Target="slides/slide11.xml"/><Relationship Id="rId14" Type="http://schemas.openxmlformats.org/officeDocument/2006/relationships/slide" Target="slides/slide10.xml"/><Relationship Id="rId58"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5cfaf56cc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3f5cfaf56cc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5cfaf56cc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3f5cfaf56cc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5cfaf56cc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g3f5cfaf56cc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5f0e60465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3f5f0e60465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5f0e60465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f5f0e60465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5f0e60465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3f5f0e60465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5f0e60465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g3f5f0e60465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5f0e60465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g3f5f0e60465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5f0e60465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f5f0e60465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5f0e60465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3f5f0e60465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5f0e60465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3f5f0e60465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5f0e60465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f5f0e60465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5f0e60465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3f5f0e60465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5f0e60465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3f5f0e60465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5f0e60465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3f5f0e60465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5f0e60465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3f5f0e60465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5f0e60465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g3f5f0e60465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5f0e60465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3f5f0e60465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5f0e60465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g3f5f0e60465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5f0e60465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3f5f0e60465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5f0e60465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g3f5f0e60465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5f0e60465_0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g3f5f0e60465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5f0e60465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3f5f0e60465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5f0e60465_0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g3f5f0e60465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5f0e60465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g3f5f0e60465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5f0e60465_0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3f5f0e60465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6b07504a288e14c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6b07504a288e14c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5f0e60465_0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g3f5f0e60465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5f0e60465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g3f5f0e60465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5d31186fe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3f5d31186fe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5f0e60465_0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g3f5f0e60465_0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5f0e60465_0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g3f5f0e60465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5f0e60465_0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g3f5f0e60465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f5d31186fe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g3f5d31186fe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Final">
  <p:cSld name="Capa Final">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Título e texto">
  <p:cSld name="1_Slide Título e texto">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6"/>
          <p:cNvSpPr txBox="1"/>
          <p:nvPr>
            <p:ph idx="1" type="subTitle"/>
          </p:nvPr>
        </p:nvSpPr>
        <p:spPr>
          <a:xfrm>
            <a:off x="969034" y="1468581"/>
            <a:ext cx="10292001" cy="444269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rgbClr val="0A0A0A"/>
              </a:buClr>
              <a:buSzPts val="1600"/>
              <a:buFont typeface="Arial"/>
              <a:buNone/>
              <a:defRPr b="0" i="0" sz="1600" u="none" cap="none" strike="noStrike">
                <a:solidFill>
                  <a:srgbClr val="0A0A0A"/>
                </a:solidFill>
                <a:latin typeface="Poppins Light"/>
                <a:ea typeface="Poppins Light"/>
                <a:cs typeface="Poppins Light"/>
                <a:sym typeface="Poppins Light"/>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Poppins Light"/>
                <a:ea typeface="Poppins Light"/>
                <a:cs typeface="Poppins Light"/>
                <a:sym typeface="Poppins Light"/>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Poppins Light"/>
                <a:ea typeface="Poppins Light"/>
                <a:cs typeface="Poppins Light"/>
                <a:sym typeface="Poppins Light"/>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9pPr>
          </a:lstStyle>
          <a:p/>
        </p:txBody>
      </p:sp>
      <p:sp>
        <p:nvSpPr>
          <p:cNvPr id="13" name="Google Shape;13;p6"/>
          <p:cNvSpPr txBox="1"/>
          <p:nvPr>
            <p:ph idx="2" type="body"/>
          </p:nvPr>
        </p:nvSpPr>
        <p:spPr>
          <a:xfrm>
            <a:off x="969035" y="704850"/>
            <a:ext cx="8327366" cy="5048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Poppins"/>
                <a:ea typeface="Poppins"/>
                <a:cs typeface="Poppins"/>
                <a:sym typeface="Poppins"/>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Principal">
  <p:cSld name="Capa Principal">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5"/>
          <p:cNvSpPr txBox="1"/>
          <p:nvPr>
            <p:ph type="title"/>
          </p:nvPr>
        </p:nvSpPr>
        <p:spPr>
          <a:xfrm>
            <a:off x="1400175" y="3067050"/>
            <a:ext cx="9838748" cy="1276350"/>
          </a:xfrm>
          <a:prstGeom prst="rect">
            <a:avLst/>
          </a:prstGeom>
          <a:noFill/>
          <a:ln>
            <a:noFill/>
          </a:ln>
        </p:spPr>
        <p:txBody>
          <a:bodyPr anchorCtr="0" anchor="t" bIns="45700" lIns="91425" spcFirstLastPara="1" rIns="91425" wrap="square" tIns="45700">
            <a:noAutofit/>
          </a:bodyPr>
          <a:lstStyle>
            <a:lvl1pPr lvl="0" marR="0" rtl="0" algn="r">
              <a:lnSpc>
                <a:spcPct val="90000"/>
              </a:lnSpc>
              <a:spcBef>
                <a:spcPts val="0"/>
              </a:spcBef>
              <a:spcAft>
                <a:spcPts val="0"/>
              </a:spcAft>
              <a:buClr>
                <a:schemeClr val="dk1"/>
              </a:buClr>
              <a:buSzPts val="4800"/>
              <a:buFont typeface="Poppins"/>
              <a:buNone/>
              <a:defRPr b="1" i="0" sz="48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 name="Google Shape;16;p5"/>
          <p:cNvSpPr txBox="1"/>
          <p:nvPr>
            <p:ph idx="1" type="body"/>
          </p:nvPr>
        </p:nvSpPr>
        <p:spPr>
          <a:xfrm>
            <a:off x="1400175" y="4638722"/>
            <a:ext cx="9838748" cy="7239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2200"/>
              <a:buFont typeface="Arial"/>
              <a:buNone/>
              <a:defRPr b="0" i="0" sz="2200" u="none" cap="none" strike="noStrike">
                <a:solidFill>
                  <a:schemeClr val="dk1"/>
                </a:solidFill>
                <a:latin typeface="Poppins Light"/>
                <a:ea typeface="Poppins Light"/>
                <a:cs typeface="Poppins Light"/>
                <a:sym typeface="Poppins Ligh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Light"/>
                <a:ea typeface="Poppins Light"/>
                <a:cs typeface="Poppins Light"/>
                <a:sym typeface="Poppins Light"/>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Light"/>
                <a:ea typeface="Poppins Light"/>
                <a:cs typeface="Poppins Light"/>
                <a:sym typeface="Poppins Light"/>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Texto e Imagem">
  <p:cSld name="2_Slide Texto e Imagem">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8"/>
          <p:cNvSpPr txBox="1"/>
          <p:nvPr>
            <p:ph idx="1" type="subTitle"/>
          </p:nvPr>
        </p:nvSpPr>
        <p:spPr>
          <a:xfrm>
            <a:off x="969034" y="692989"/>
            <a:ext cx="5302457" cy="521828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rgbClr val="0A0A0A"/>
              </a:buClr>
              <a:buSzPts val="1600"/>
              <a:buFont typeface="Arial"/>
              <a:buNone/>
              <a:defRPr b="0" i="0" sz="1600" u="none" cap="none" strike="noStrike">
                <a:solidFill>
                  <a:srgbClr val="0A0A0A"/>
                </a:solidFill>
                <a:latin typeface="Poppins Light"/>
                <a:ea typeface="Poppins Light"/>
                <a:cs typeface="Poppins Light"/>
                <a:sym typeface="Poppins Light"/>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Poppins Light"/>
                <a:ea typeface="Poppins Light"/>
                <a:cs typeface="Poppins Light"/>
                <a:sym typeface="Poppins Light"/>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Poppins Light"/>
                <a:ea typeface="Poppins Light"/>
                <a:cs typeface="Poppins Light"/>
                <a:sym typeface="Poppins Light"/>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9pPr>
          </a:lstStyle>
          <a:p/>
        </p:txBody>
      </p:sp>
      <p:sp>
        <p:nvSpPr>
          <p:cNvPr id="19" name="Google Shape;19;p8"/>
          <p:cNvSpPr/>
          <p:nvPr>
            <p:ph idx="2" type="pic"/>
          </p:nvPr>
        </p:nvSpPr>
        <p:spPr>
          <a:xfrm>
            <a:off x="6522460" y="1468581"/>
            <a:ext cx="4718978" cy="4442691"/>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lide Título, Texto e Imagem">
  <p:cSld name="3_Slide Título, Texto e Imagem">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9"/>
          <p:cNvSpPr txBox="1"/>
          <p:nvPr>
            <p:ph idx="1" type="subTitle"/>
          </p:nvPr>
        </p:nvSpPr>
        <p:spPr>
          <a:xfrm>
            <a:off x="969034" y="1468581"/>
            <a:ext cx="5302457" cy="444269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rgbClr val="0A0A0A"/>
              </a:buClr>
              <a:buSzPts val="1600"/>
              <a:buFont typeface="Arial"/>
              <a:buNone/>
              <a:defRPr b="0" i="0" sz="1600" u="none" cap="none" strike="noStrike">
                <a:solidFill>
                  <a:srgbClr val="0A0A0A"/>
                </a:solidFill>
                <a:latin typeface="Poppins Light"/>
                <a:ea typeface="Poppins Light"/>
                <a:cs typeface="Poppins Light"/>
                <a:sym typeface="Poppins Light"/>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Poppins Light"/>
                <a:ea typeface="Poppins Light"/>
                <a:cs typeface="Poppins Light"/>
                <a:sym typeface="Poppins Light"/>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Poppins Light"/>
                <a:ea typeface="Poppins Light"/>
                <a:cs typeface="Poppins Light"/>
                <a:sym typeface="Poppins Light"/>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9pPr>
          </a:lstStyle>
          <a:p/>
        </p:txBody>
      </p:sp>
      <p:sp>
        <p:nvSpPr>
          <p:cNvPr id="22" name="Google Shape;22;p9"/>
          <p:cNvSpPr/>
          <p:nvPr>
            <p:ph idx="2" type="pic"/>
          </p:nvPr>
        </p:nvSpPr>
        <p:spPr>
          <a:xfrm>
            <a:off x="6522460" y="1468581"/>
            <a:ext cx="4718978" cy="4442691"/>
          </a:xfrm>
          <a:prstGeom prst="rect">
            <a:avLst/>
          </a:prstGeom>
          <a:noFill/>
          <a:ln>
            <a:noFill/>
          </a:ln>
        </p:spPr>
      </p:sp>
      <p:sp>
        <p:nvSpPr>
          <p:cNvPr id="23" name="Google Shape;23;p9"/>
          <p:cNvSpPr txBox="1"/>
          <p:nvPr>
            <p:ph idx="3" type="body"/>
          </p:nvPr>
        </p:nvSpPr>
        <p:spPr>
          <a:xfrm>
            <a:off x="969035" y="704850"/>
            <a:ext cx="8327366" cy="5048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Poppins"/>
                <a:ea typeface="Poppins"/>
                <a:cs typeface="Poppins"/>
                <a:sym typeface="Poppins"/>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lide Título+Texto">
  <p:cSld name="4_Slide Título+Texto">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10"/>
          <p:cNvSpPr txBox="1"/>
          <p:nvPr>
            <p:ph idx="1" type="body"/>
          </p:nvPr>
        </p:nvSpPr>
        <p:spPr>
          <a:xfrm>
            <a:off x="960438" y="1468438"/>
            <a:ext cx="10280650" cy="44434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Poppins ExtraLight"/>
                <a:ea typeface="Poppins ExtraLight"/>
                <a:cs typeface="Poppins ExtraLight"/>
                <a:sym typeface="Poppins ExtraLigh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Light"/>
                <a:ea typeface="Poppins Light"/>
                <a:cs typeface="Poppins Light"/>
                <a:sym typeface="Poppins Light"/>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Light"/>
                <a:ea typeface="Poppins Light"/>
                <a:cs typeface="Poppins Light"/>
                <a:sym typeface="Poppins Light"/>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26" name="Google Shape;26;p10"/>
          <p:cNvSpPr txBox="1"/>
          <p:nvPr>
            <p:ph idx="2" type="body"/>
          </p:nvPr>
        </p:nvSpPr>
        <p:spPr>
          <a:xfrm>
            <a:off x="960439" y="676275"/>
            <a:ext cx="7735886" cy="5429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SemiBold"/>
                <a:ea typeface="Poppins SemiBold"/>
                <a:cs typeface="Poppins SemiBold"/>
                <a:sym typeface="Poppins SemiBol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SemiBold"/>
                <a:ea typeface="Poppins SemiBold"/>
                <a:cs typeface="Poppins SemiBold"/>
                <a:sym typeface="Poppins SemiBol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SemiBold"/>
                <a:ea typeface="Poppins SemiBold"/>
                <a:cs typeface="Poppins SemiBold"/>
                <a:sym typeface="Poppins SemiBol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lide Texto e Imagem">
  <p:cSld name="5_Slide Texto e Imagem">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11"/>
          <p:cNvSpPr txBox="1"/>
          <p:nvPr>
            <p:ph idx="1" type="subTitle"/>
          </p:nvPr>
        </p:nvSpPr>
        <p:spPr>
          <a:xfrm>
            <a:off x="886691" y="1191491"/>
            <a:ext cx="5283200" cy="504305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rgbClr val="202020"/>
              </a:buClr>
              <a:buSzPts val="1600"/>
              <a:buFont typeface="Arial"/>
              <a:buNone/>
              <a:defRPr b="0" i="0" sz="1600" u="none" cap="none" strike="noStrike">
                <a:solidFill>
                  <a:srgbClr val="202020"/>
                </a:solidFill>
                <a:latin typeface="Poppins ExtraLight"/>
                <a:ea typeface="Poppins ExtraLight"/>
                <a:cs typeface="Poppins ExtraLight"/>
                <a:sym typeface="Poppins ExtraLight"/>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Poppins Light"/>
                <a:ea typeface="Poppins Light"/>
                <a:cs typeface="Poppins Light"/>
                <a:sym typeface="Poppins Light"/>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Poppins Light"/>
                <a:ea typeface="Poppins Light"/>
                <a:cs typeface="Poppins Light"/>
                <a:sym typeface="Poppins Light"/>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9pPr>
          </a:lstStyle>
          <a:p/>
        </p:txBody>
      </p:sp>
      <p:sp>
        <p:nvSpPr>
          <p:cNvPr id="29" name="Google Shape;29;p11"/>
          <p:cNvSpPr/>
          <p:nvPr>
            <p:ph idx="2" type="pic"/>
          </p:nvPr>
        </p:nvSpPr>
        <p:spPr>
          <a:xfrm>
            <a:off x="6898844" y="1579563"/>
            <a:ext cx="4368800" cy="465455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lide Título, Texto e Imagem">
  <p:cSld name="6_Slide Título, Texto e Imagem">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12"/>
          <p:cNvSpPr/>
          <p:nvPr>
            <p:ph idx="2" type="pic"/>
          </p:nvPr>
        </p:nvSpPr>
        <p:spPr>
          <a:xfrm>
            <a:off x="6898844" y="1828367"/>
            <a:ext cx="4368800" cy="4405746"/>
          </a:xfrm>
          <a:prstGeom prst="rect">
            <a:avLst/>
          </a:prstGeom>
          <a:noFill/>
          <a:ln>
            <a:noFill/>
          </a:ln>
        </p:spPr>
      </p:sp>
      <p:sp>
        <p:nvSpPr>
          <p:cNvPr id="32" name="Google Shape;32;p12"/>
          <p:cNvSpPr txBox="1"/>
          <p:nvPr>
            <p:ph idx="1" type="subTitle"/>
          </p:nvPr>
        </p:nvSpPr>
        <p:spPr>
          <a:xfrm>
            <a:off x="886691" y="1828799"/>
            <a:ext cx="5283200" cy="440574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chemeClr val="dk1"/>
              </a:buClr>
              <a:buSzPts val="1600"/>
              <a:buFont typeface="Arial"/>
              <a:buNone/>
              <a:defRPr b="0" i="0" sz="1600" u="none" cap="none" strike="noStrike">
                <a:solidFill>
                  <a:schemeClr val="dk1"/>
                </a:solidFill>
                <a:latin typeface="Poppins ExtraLight"/>
                <a:ea typeface="Poppins ExtraLight"/>
                <a:cs typeface="Poppins ExtraLight"/>
                <a:sym typeface="Poppins ExtraLight"/>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Poppins Light"/>
                <a:ea typeface="Poppins Light"/>
                <a:cs typeface="Poppins Light"/>
                <a:sym typeface="Poppins Light"/>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Poppins Light"/>
                <a:ea typeface="Poppins Light"/>
                <a:cs typeface="Poppins Light"/>
                <a:sym typeface="Poppins Light"/>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9pPr>
          </a:lstStyle>
          <a:p/>
        </p:txBody>
      </p:sp>
      <p:sp>
        <p:nvSpPr>
          <p:cNvPr id="33" name="Google Shape;33;p12"/>
          <p:cNvSpPr txBox="1"/>
          <p:nvPr>
            <p:ph idx="3" type="body"/>
          </p:nvPr>
        </p:nvSpPr>
        <p:spPr>
          <a:xfrm>
            <a:off x="887413" y="1171575"/>
            <a:ext cx="5283200" cy="419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1"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Arial"/>
              <a:buChar char="•"/>
              <a:defRPr b="1"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Slide Texto, Imagem e Legenda">
  <p:cSld name="7_Slide Texto, Imagem e Legenda">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13"/>
          <p:cNvSpPr txBox="1"/>
          <p:nvPr>
            <p:ph idx="1" type="subTitle"/>
          </p:nvPr>
        </p:nvSpPr>
        <p:spPr>
          <a:xfrm>
            <a:off x="886691" y="1191491"/>
            <a:ext cx="5283200" cy="504305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chemeClr val="dk1"/>
              </a:buClr>
              <a:buSzPts val="1600"/>
              <a:buFont typeface="Arial"/>
              <a:buNone/>
              <a:defRPr b="0" i="0" sz="1600" u="none" cap="none" strike="noStrike">
                <a:solidFill>
                  <a:schemeClr val="dk1"/>
                </a:solidFill>
                <a:latin typeface="Poppins ExtraLight"/>
                <a:ea typeface="Poppins ExtraLight"/>
                <a:cs typeface="Poppins ExtraLight"/>
                <a:sym typeface="Poppins ExtraLight"/>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Poppins Light"/>
                <a:ea typeface="Poppins Light"/>
                <a:cs typeface="Poppins Light"/>
                <a:sym typeface="Poppins Light"/>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Poppins Light"/>
                <a:ea typeface="Poppins Light"/>
                <a:cs typeface="Poppins Light"/>
                <a:sym typeface="Poppins Light"/>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9pPr>
          </a:lstStyle>
          <a:p/>
        </p:txBody>
      </p:sp>
      <p:sp>
        <p:nvSpPr>
          <p:cNvPr id="36" name="Google Shape;36;p13"/>
          <p:cNvSpPr/>
          <p:nvPr>
            <p:ph idx="2" type="pic"/>
          </p:nvPr>
        </p:nvSpPr>
        <p:spPr>
          <a:xfrm>
            <a:off x="6898844" y="1579563"/>
            <a:ext cx="4368800" cy="3685164"/>
          </a:xfrm>
          <a:prstGeom prst="rect">
            <a:avLst/>
          </a:prstGeom>
          <a:noFill/>
          <a:ln>
            <a:noFill/>
          </a:ln>
        </p:spPr>
      </p:sp>
      <p:sp>
        <p:nvSpPr>
          <p:cNvPr id="37" name="Google Shape;37;p13"/>
          <p:cNvSpPr txBox="1"/>
          <p:nvPr>
            <p:ph idx="3" type="body"/>
          </p:nvPr>
        </p:nvSpPr>
        <p:spPr>
          <a:xfrm>
            <a:off x="6899275" y="5619750"/>
            <a:ext cx="4368800" cy="6143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Poppins ExtraLight"/>
                <a:ea typeface="Poppins ExtraLight"/>
                <a:cs typeface="Poppins ExtraLight"/>
                <a:sym typeface="Poppins ExtraLight"/>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Slide Título, Texto, Imagem e Legenda">
  <p:cSld name="8_Slide Título, Texto, Imagem e Legenda">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14"/>
          <p:cNvSpPr txBox="1"/>
          <p:nvPr>
            <p:ph idx="1" type="subTitle"/>
          </p:nvPr>
        </p:nvSpPr>
        <p:spPr>
          <a:xfrm>
            <a:off x="886691" y="1828799"/>
            <a:ext cx="5283200" cy="440574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chemeClr val="dk1"/>
              </a:buClr>
              <a:buSzPts val="1600"/>
              <a:buFont typeface="Arial"/>
              <a:buNone/>
              <a:defRPr b="0" i="0" sz="1600" u="none" cap="none" strike="noStrike">
                <a:solidFill>
                  <a:schemeClr val="dk1"/>
                </a:solidFill>
                <a:latin typeface="Poppins ExtraLight"/>
                <a:ea typeface="Poppins ExtraLight"/>
                <a:cs typeface="Poppins ExtraLight"/>
                <a:sym typeface="Poppins ExtraLight"/>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Poppins Light"/>
                <a:ea typeface="Poppins Light"/>
                <a:cs typeface="Poppins Light"/>
                <a:sym typeface="Poppins Light"/>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Poppins Light"/>
                <a:ea typeface="Poppins Light"/>
                <a:cs typeface="Poppins Light"/>
                <a:sym typeface="Poppins Light"/>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oppins Light"/>
                <a:ea typeface="Poppins Light"/>
                <a:cs typeface="Poppins Light"/>
                <a:sym typeface="Poppins Light"/>
              </a:defRPr>
            </a:lvl9pPr>
          </a:lstStyle>
          <a:p/>
        </p:txBody>
      </p:sp>
      <p:sp>
        <p:nvSpPr>
          <p:cNvPr id="40" name="Google Shape;40;p14"/>
          <p:cNvSpPr/>
          <p:nvPr>
            <p:ph idx="2" type="pic"/>
          </p:nvPr>
        </p:nvSpPr>
        <p:spPr>
          <a:xfrm>
            <a:off x="6898844" y="1828799"/>
            <a:ext cx="4368800" cy="3435928"/>
          </a:xfrm>
          <a:prstGeom prst="rect">
            <a:avLst/>
          </a:prstGeom>
          <a:noFill/>
          <a:ln>
            <a:noFill/>
          </a:ln>
        </p:spPr>
      </p:sp>
      <p:sp>
        <p:nvSpPr>
          <p:cNvPr id="41" name="Google Shape;41;p14"/>
          <p:cNvSpPr txBox="1"/>
          <p:nvPr>
            <p:ph idx="3" type="body"/>
          </p:nvPr>
        </p:nvSpPr>
        <p:spPr>
          <a:xfrm>
            <a:off x="6899275" y="5610225"/>
            <a:ext cx="4368800" cy="6238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400"/>
              <a:buFont typeface="Arial"/>
              <a:buNone/>
              <a:defRPr b="0" i="0" sz="1400" u="none" cap="none" strike="noStrike">
                <a:solidFill>
                  <a:schemeClr val="lt1"/>
                </a:solidFill>
                <a:latin typeface="Poppins ExtraLight"/>
                <a:ea typeface="Poppins ExtraLight"/>
                <a:cs typeface="Poppins ExtraLight"/>
                <a:sym typeface="Poppins ExtraLight"/>
              </a:defRPr>
            </a:lvl1pPr>
            <a:lvl2pPr indent="-317500" lvl="1" marL="9144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Poppins ExtraLight"/>
                <a:ea typeface="Poppins ExtraLight"/>
                <a:cs typeface="Poppins ExtraLight"/>
                <a:sym typeface="Poppins ExtraLight"/>
              </a:defRPr>
            </a:lvl2pPr>
            <a:lvl3pPr indent="-317500" lvl="2" marL="13716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Poppins ExtraLight"/>
                <a:ea typeface="Poppins ExtraLight"/>
                <a:cs typeface="Poppins ExtraLight"/>
                <a:sym typeface="Poppins ExtraLight"/>
              </a:defRPr>
            </a:lvl3pPr>
            <a:lvl4pPr indent="-317500" lvl="3" marL="18288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Poppins ExtraLight"/>
                <a:ea typeface="Poppins ExtraLight"/>
                <a:cs typeface="Poppins ExtraLight"/>
                <a:sym typeface="Poppins ExtraLight"/>
              </a:defRPr>
            </a:lvl4pPr>
            <a:lvl5pPr indent="-317500" lvl="4" marL="22860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42" name="Google Shape;42;p14"/>
          <p:cNvSpPr txBox="1"/>
          <p:nvPr>
            <p:ph idx="4" type="body"/>
          </p:nvPr>
        </p:nvSpPr>
        <p:spPr>
          <a:xfrm>
            <a:off x="887413" y="1181100"/>
            <a:ext cx="5283200" cy="4095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Poppins"/>
                <a:ea typeface="Poppins"/>
                <a:cs typeface="Poppins"/>
                <a:sym typeface="Poppins"/>
              </a:defRPr>
            </a:lvl1pPr>
            <a:lvl2pPr indent="-342900" lvl="1" marL="9144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2pPr>
            <a:lvl3pPr indent="-342900" lvl="2" marL="13716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Slide Imagens e Legendas">
  <p:cSld name="9_Slide Imagens e Legendas">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15"/>
          <p:cNvSpPr/>
          <p:nvPr>
            <p:ph idx="2" type="pic"/>
          </p:nvPr>
        </p:nvSpPr>
        <p:spPr>
          <a:xfrm>
            <a:off x="913986" y="1466850"/>
            <a:ext cx="5027949" cy="3631407"/>
          </a:xfrm>
          <a:prstGeom prst="rect">
            <a:avLst/>
          </a:prstGeom>
          <a:noFill/>
          <a:ln>
            <a:noFill/>
          </a:ln>
        </p:spPr>
      </p:sp>
      <p:sp>
        <p:nvSpPr>
          <p:cNvPr id="45" name="Google Shape;45;p15"/>
          <p:cNvSpPr/>
          <p:nvPr>
            <p:ph idx="3" type="pic"/>
          </p:nvPr>
        </p:nvSpPr>
        <p:spPr>
          <a:xfrm>
            <a:off x="6409523" y="1466849"/>
            <a:ext cx="4839101" cy="3631407"/>
          </a:xfrm>
          <a:prstGeom prst="rect">
            <a:avLst/>
          </a:prstGeom>
          <a:noFill/>
          <a:ln>
            <a:noFill/>
          </a:ln>
        </p:spPr>
      </p:sp>
      <p:sp>
        <p:nvSpPr>
          <p:cNvPr id="46" name="Google Shape;46;p15"/>
          <p:cNvSpPr txBox="1"/>
          <p:nvPr>
            <p:ph idx="1" type="body"/>
          </p:nvPr>
        </p:nvSpPr>
        <p:spPr>
          <a:xfrm>
            <a:off x="914401" y="5394325"/>
            <a:ext cx="5027950"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47" name="Google Shape;47;p15"/>
          <p:cNvSpPr txBox="1"/>
          <p:nvPr>
            <p:ph idx="4" type="body"/>
          </p:nvPr>
        </p:nvSpPr>
        <p:spPr>
          <a:xfrm>
            <a:off x="6409522" y="5387974"/>
            <a:ext cx="4839102"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48" name="Google Shape;48;p15"/>
          <p:cNvSpPr txBox="1"/>
          <p:nvPr>
            <p:ph idx="5" type="body"/>
          </p:nvPr>
        </p:nvSpPr>
        <p:spPr>
          <a:xfrm>
            <a:off x="913986" y="781050"/>
            <a:ext cx="10334638" cy="3905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Light"/>
                <a:ea typeface="Poppins Light"/>
                <a:cs typeface="Poppins Light"/>
                <a:sym typeface="Poppins Light"/>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Light"/>
                <a:ea typeface="Poppins Light"/>
                <a:cs typeface="Poppins Light"/>
                <a:sym typeface="Poppins Light"/>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 Imagens e Legendas">
  <p:cSld name="10_Slide Imagens e Legendas">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16"/>
          <p:cNvSpPr/>
          <p:nvPr>
            <p:ph idx="2" type="pic"/>
          </p:nvPr>
        </p:nvSpPr>
        <p:spPr>
          <a:xfrm>
            <a:off x="914401" y="793750"/>
            <a:ext cx="3297670" cy="4304507"/>
          </a:xfrm>
          <a:prstGeom prst="rect">
            <a:avLst/>
          </a:prstGeom>
          <a:noFill/>
          <a:ln>
            <a:noFill/>
          </a:ln>
        </p:spPr>
      </p:sp>
      <p:sp>
        <p:nvSpPr>
          <p:cNvPr id="51" name="Google Shape;51;p16"/>
          <p:cNvSpPr/>
          <p:nvPr>
            <p:ph idx="3" type="pic"/>
          </p:nvPr>
        </p:nvSpPr>
        <p:spPr>
          <a:xfrm>
            <a:off x="4447165" y="800893"/>
            <a:ext cx="3297670" cy="4304507"/>
          </a:xfrm>
          <a:prstGeom prst="rect">
            <a:avLst/>
          </a:prstGeom>
          <a:noFill/>
          <a:ln>
            <a:noFill/>
          </a:ln>
        </p:spPr>
      </p:sp>
      <p:sp>
        <p:nvSpPr>
          <p:cNvPr id="52" name="Google Shape;52;p16"/>
          <p:cNvSpPr/>
          <p:nvPr>
            <p:ph idx="4" type="pic"/>
          </p:nvPr>
        </p:nvSpPr>
        <p:spPr>
          <a:xfrm>
            <a:off x="7951369" y="793749"/>
            <a:ext cx="3297670" cy="4304507"/>
          </a:xfrm>
          <a:prstGeom prst="rect">
            <a:avLst/>
          </a:prstGeom>
          <a:noFill/>
          <a:ln>
            <a:noFill/>
          </a:ln>
        </p:spPr>
      </p:sp>
      <p:sp>
        <p:nvSpPr>
          <p:cNvPr id="53" name="Google Shape;53;p16"/>
          <p:cNvSpPr txBox="1"/>
          <p:nvPr>
            <p:ph idx="1" type="body"/>
          </p:nvPr>
        </p:nvSpPr>
        <p:spPr>
          <a:xfrm>
            <a:off x="914400" y="5394325"/>
            <a:ext cx="3297671"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54" name="Google Shape;54;p16"/>
          <p:cNvSpPr txBox="1"/>
          <p:nvPr>
            <p:ph idx="5" type="body"/>
          </p:nvPr>
        </p:nvSpPr>
        <p:spPr>
          <a:xfrm>
            <a:off x="4446747" y="5387974"/>
            <a:ext cx="3297671"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55" name="Google Shape;55;p16"/>
          <p:cNvSpPr txBox="1"/>
          <p:nvPr>
            <p:ph idx="6" type="body"/>
          </p:nvPr>
        </p:nvSpPr>
        <p:spPr>
          <a:xfrm>
            <a:off x="7950952" y="5387974"/>
            <a:ext cx="3297671"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 Título, Imagens e Legendas">
  <p:cSld name="11_Slide Título, Imagens e Legendas">
    <p:bg>
      <p:bgPr>
        <a:blipFill>
          <a:blip r:embed="rId2">
            <a:alphaModFix/>
          </a:blip>
          <a:stretch>
            <a:fillRect/>
          </a:stretch>
        </a:blipFill>
      </p:bgPr>
    </p:bg>
    <p:spTree>
      <p:nvGrpSpPr>
        <p:cNvPr id="56" name="Shape 56"/>
        <p:cNvGrpSpPr/>
        <p:nvPr/>
      </p:nvGrpSpPr>
      <p:grpSpPr>
        <a:xfrm>
          <a:off x="0" y="0"/>
          <a:ext cx="0" cy="0"/>
          <a:chOff x="0" y="0"/>
          <a:chExt cx="0" cy="0"/>
        </a:xfrm>
      </p:grpSpPr>
      <p:sp>
        <p:nvSpPr>
          <p:cNvPr id="57" name="Google Shape;57;p17"/>
          <p:cNvSpPr/>
          <p:nvPr>
            <p:ph idx="2" type="pic"/>
          </p:nvPr>
        </p:nvSpPr>
        <p:spPr>
          <a:xfrm>
            <a:off x="914401" y="1373982"/>
            <a:ext cx="3297670" cy="3724275"/>
          </a:xfrm>
          <a:prstGeom prst="rect">
            <a:avLst/>
          </a:prstGeom>
          <a:noFill/>
          <a:ln>
            <a:noFill/>
          </a:ln>
        </p:spPr>
      </p:sp>
      <p:sp>
        <p:nvSpPr>
          <p:cNvPr id="58" name="Google Shape;58;p17"/>
          <p:cNvSpPr/>
          <p:nvPr>
            <p:ph idx="3" type="pic"/>
          </p:nvPr>
        </p:nvSpPr>
        <p:spPr>
          <a:xfrm>
            <a:off x="4447165" y="1381125"/>
            <a:ext cx="3297670" cy="3724275"/>
          </a:xfrm>
          <a:prstGeom prst="rect">
            <a:avLst/>
          </a:prstGeom>
          <a:noFill/>
          <a:ln>
            <a:noFill/>
          </a:ln>
        </p:spPr>
      </p:sp>
      <p:sp>
        <p:nvSpPr>
          <p:cNvPr id="59" name="Google Shape;59;p17"/>
          <p:cNvSpPr/>
          <p:nvPr>
            <p:ph idx="4" type="pic"/>
          </p:nvPr>
        </p:nvSpPr>
        <p:spPr>
          <a:xfrm>
            <a:off x="7951369" y="1373981"/>
            <a:ext cx="3297670" cy="3724275"/>
          </a:xfrm>
          <a:prstGeom prst="rect">
            <a:avLst/>
          </a:prstGeom>
          <a:noFill/>
          <a:ln>
            <a:noFill/>
          </a:ln>
        </p:spPr>
      </p:sp>
      <p:sp>
        <p:nvSpPr>
          <p:cNvPr id="60" name="Google Shape;60;p17"/>
          <p:cNvSpPr txBox="1"/>
          <p:nvPr>
            <p:ph idx="1" type="body"/>
          </p:nvPr>
        </p:nvSpPr>
        <p:spPr>
          <a:xfrm>
            <a:off x="914400" y="5394325"/>
            <a:ext cx="3297671"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61" name="Google Shape;61;p17"/>
          <p:cNvSpPr txBox="1"/>
          <p:nvPr>
            <p:ph idx="5" type="body"/>
          </p:nvPr>
        </p:nvSpPr>
        <p:spPr>
          <a:xfrm>
            <a:off x="4446747" y="5387974"/>
            <a:ext cx="3297671"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62" name="Google Shape;62;p17"/>
          <p:cNvSpPr txBox="1"/>
          <p:nvPr>
            <p:ph idx="6" type="body"/>
          </p:nvPr>
        </p:nvSpPr>
        <p:spPr>
          <a:xfrm>
            <a:off x="7950952" y="5387974"/>
            <a:ext cx="3297671"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63" name="Google Shape;63;p17"/>
          <p:cNvSpPr txBox="1"/>
          <p:nvPr>
            <p:ph idx="7" type="body"/>
          </p:nvPr>
        </p:nvSpPr>
        <p:spPr>
          <a:xfrm>
            <a:off x="800100" y="762000"/>
            <a:ext cx="10448925" cy="419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Poppins"/>
                <a:ea typeface="Poppins"/>
                <a:cs typeface="Poppins"/>
                <a:sym typeface="Poppins"/>
              </a:defRPr>
            </a:lvl1pPr>
            <a:lvl2pPr indent="-342900" lvl="1" marL="9144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2pPr>
            <a:lvl3pPr indent="-342900" lvl="2" marL="13716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apa Interna 01">
  <p:cSld name="12_Capa Interna 01">
    <p:bg>
      <p:bgPr>
        <a:blipFill>
          <a:blip r:embed="rId2">
            <a:alphaModFix/>
          </a:blip>
          <a:stretch>
            <a:fillRect/>
          </a:stretch>
        </a:blipFill>
      </p:bgPr>
    </p:bg>
    <p:spTree>
      <p:nvGrpSpPr>
        <p:cNvPr id="64" name="Shape 64"/>
        <p:cNvGrpSpPr/>
        <p:nvPr/>
      </p:nvGrpSpPr>
      <p:grpSpPr>
        <a:xfrm>
          <a:off x="0" y="0"/>
          <a:ext cx="0" cy="0"/>
          <a:chOff x="0" y="0"/>
          <a:chExt cx="0" cy="0"/>
        </a:xfrm>
      </p:grpSpPr>
      <p:sp>
        <p:nvSpPr>
          <p:cNvPr id="65" name="Google Shape;65;p18"/>
          <p:cNvSpPr txBox="1"/>
          <p:nvPr>
            <p:ph idx="1" type="body"/>
          </p:nvPr>
        </p:nvSpPr>
        <p:spPr>
          <a:xfrm>
            <a:off x="733425" y="4562475"/>
            <a:ext cx="10725150" cy="66198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66" name="Google Shape;66;p18"/>
          <p:cNvSpPr txBox="1"/>
          <p:nvPr>
            <p:ph idx="2" type="body"/>
          </p:nvPr>
        </p:nvSpPr>
        <p:spPr>
          <a:xfrm>
            <a:off x="733425" y="3752850"/>
            <a:ext cx="10725150" cy="80962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3600"/>
              <a:buFont typeface="Arial"/>
              <a:buNone/>
              <a:defRPr b="1" i="0" sz="3600" u="none" cap="none" strike="noStrike">
                <a:solidFill>
                  <a:schemeClr val="dk1"/>
                </a:solidFill>
                <a:latin typeface="Poppins"/>
                <a:ea typeface="Poppins"/>
                <a:cs typeface="Poppins"/>
                <a:sym typeface="Poppins"/>
              </a:defRPr>
            </a:lvl1pPr>
            <a:lvl2pPr indent="-457200" lvl="1" marL="914400" marR="0" rtl="0" algn="ctr">
              <a:lnSpc>
                <a:spcPct val="90000"/>
              </a:lnSpc>
              <a:spcBef>
                <a:spcPts val="500"/>
              </a:spcBef>
              <a:spcAft>
                <a:spcPts val="0"/>
              </a:spcAft>
              <a:buClr>
                <a:schemeClr val="dk1"/>
              </a:buClr>
              <a:buSzPts val="3600"/>
              <a:buFont typeface="Arial"/>
              <a:buChar char="•"/>
              <a:defRPr b="1" i="0" sz="3600" u="none" cap="none" strike="noStrike">
                <a:solidFill>
                  <a:schemeClr val="dk1"/>
                </a:solidFill>
                <a:latin typeface="Poppins"/>
                <a:ea typeface="Poppins"/>
                <a:cs typeface="Poppins"/>
                <a:sym typeface="Poppins"/>
              </a:defRPr>
            </a:lvl2pPr>
            <a:lvl3pPr indent="-457200" lvl="2" marL="1371600" marR="0" rtl="0" algn="ctr">
              <a:lnSpc>
                <a:spcPct val="90000"/>
              </a:lnSpc>
              <a:spcBef>
                <a:spcPts val="500"/>
              </a:spcBef>
              <a:spcAft>
                <a:spcPts val="0"/>
              </a:spcAft>
              <a:buClr>
                <a:schemeClr val="dk1"/>
              </a:buClr>
              <a:buSzPts val="3600"/>
              <a:buFont typeface="Arial"/>
              <a:buChar char="•"/>
              <a:defRPr b="1" i="0" sz="3600" u="none" cap="none" strike="noStrike">
                <a:solidFill>
                  <a:schemeClr val="dk1"/>
                </a:solidFill>
                <a:latin typeface="Poppins"/>
                <a:ea typeface="Poppins"/>
                <a:cs typeface="Poppins"/>
                <a:sym typeface="Poppins"/>
              </a:defRPr>
            </a:lvl3pPr>
            <a:lvl4pPr indent="-457200" lvl="3" marL="1828800" marR="0" rtl="0" algn="ctr">
              <a:lnSpc>
                <a:spcPct val="90000"/>
              </a:lnSpc>
              <a:spcBef>
                <a:spcPts val="500"/>
              </a:spcBef>
              <a:spcAft>
                <a:spcPts val="0"/>
              </a:spcAft>
              <a:buClr>
                <a:schemeClr val="dk1"/>
              </a:buClr>
              <a:buSzPts val="3600"/>
              <a:buFont typeface="Arial"/>
              <a:buChar char="•"/>
              <a:defRPr b="1" i="0" sz="3600" u="none" cap="none" strike="noStrike">
                <a:solidFill>
                  <a:schemeClr val="dk1"/>
                </a:solidFill>
                <a:latin typeface="Poppins"/>
                <a:ea typeface="Poppins"/>
                <a:cs typeface="Poppins"/>
                <a:sym typeface="Poppins"/>
              </a:defRPr>
            </a:lvl4pPr>
            <a:lvl5pPr indent="-457200" lvl="4" marL="2286000" marR="0" rtl="0" algn="ctr">
              <a:lnSpc>
                <a:spcPct val="90000"/>
              </a:lnSpc>
              <a:spcBef>
                <a:spcPts val="500"/>
              </a:spcBef>
              <a:spcAft>
                <a:spcPts val="0"/>
              </a:spcAft>
              <a:buClr>
                <a:schemeClr val="dk1"/>
              </a:buClr>
              <a:buSzPts val="3600"/>
              <a:buFont typeface="Arial"/>
              <a:buChar char="•"/>
              <a:defRPr b="1" i="0" sz="36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apa Interna 02">
  <p:cSld name="13_Capa Interna 02">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19"/>
          <p:cNvSpPr txBox="1"/>
          <p:nvPr>
            <p:ph idx="1" type="body"/>
          </p:nvPr>
        </p:nvSpPr>
        <p:spPr>
          <a:xfrm>
            <a:off x="733425" y="4562475"/>
            <a:ext cx="10725150" cy="66198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69" name="Google Shape;69;p19"/>
          <p:cNvSpPr txBox="1"/>
          <p:nvPr>
            <p:ph idx="2" type="body"/>
          </p:nvPr>
        </p:nvSpPr>
        <p:spPr>
          <a:xfrm>
            <a:off x="733425" y="3762375"/>
            <a:ext cx="10725150" cy="8001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3600"/>
              <a:buFont typeface="Arial"/>
              <a:buNone/>
              <a:defRPr b="1" i="0" sz="36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Light"/>
                <a:ea typeface="Poppins Light"/>
                <a:cs typeface="Poppins Light"/>
                <a:sym typeface="Poppins Light"/>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Light"/>
                <a:ea typeface="Poppins Light"/>
                <a:cs typeface="Poppins Light"/>
                <a:sym typeface="Poppins Light"/>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 Imagem">
  <p:cSld name="14_Slide Imagem">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20"/>
          <p:cNvSpPr/>
          <p:nvPr>
            <p:ph idx="2" type="pic"/>
          </p:nvPr>
        </p:nvSpPr>
        <p:spPr>
          <a:xfrm>
            <a:off x="914400" y="796419"/>
            <a:ext cx="10353111" cy="5255498"/>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 Imagem e Legenda">
  <p:cSld name="15_Slide Imagem e Legenda">
    <p:bg>
      <p:bgPr>
        <a:blipFill>
          <a:blip r:embed="rId2">
            <a:alphaModFix/>
          </a:blip>
          <a:stretch>
            <a:fillRect/>
          </a:stretch>
        </a:blipFill>
      </p:bgPr>
    </p:bg>
    <p:spTree>
      <p:nvGrpSpPr>
        <p:cNvPr id="72" name="Shape 72"/>
        <p:cNvGrpSpPr/>
        <p:nvPr/>
      </p:nvGrpSpPr>
      <p:grpSpPr>
        <a:xfrm>
          <a:off x="0" y="0"/>
          <a:ext cx="0" cy="0"/>
          <a:chOff x="0" y="0"/>
          <a:chExt cx="0" cy="0"/>
        </a:xfrm>
      </p:grpSpPr>
      <p:sp>
        <p:nvSpPr>
          <p:cNvPr id="73" name="Google Shape;73;p21"/>
          <p:cNvSpPr/>
          <p:nvPr>
            <p:ph idx="2" type="pic"/>
          </p:nvPr>
        </p:nvSpPr>
        <p:spPr>
          <a:xfrm>
            <a:off x="914400" y="796419"/>
            <a:ext cx="10353111" cy="4337556"/>
          </a:xfrm>
          <a:prstGeom prst="rect">
            <a:avLst/>
          </a:prstGeom>
          <a:noFill/>
          <a:ln>
            <a:noFill/>
          </a:ln>
        </p:spPr>
      </p:sp>
      <p:sp>
        <p:nvSpPr>
          <p:cNvPr id="74" name="Google Shape;74;p21"/>
          <p:cNvSpPr txBox="1"/>
          <p:nvPr>
            <p:ph idx="1" type="body"/>
          </p:nvPr>
        </p:nvSpPr>
        <p:spPr>
          <a:xfrm>
            <a:off x="914400" y="5394325"/>
            <a:ext cx="10353111" cy="6619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 Imagens">
  <p:cSld name="16_Slide Imagens">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22"/>
          <p:cNvSpPr/>
          <p:nvPr>
            <p:ph idx="2" type="pic"/>
          </p:nvPr>
        </p:nvSpPr>
        <p:spPr>
          <a:xfrm>
            <a:off x="914401" y="796419"/>
            <a:ext cx="5070763" cy="5255498"/>
          </a:xfrm>
          <a:prstGeom prst="rect">
            <a:avLst/>
          </a:prstGeom>
          <a:noFill/>
          <a:ln>
            <a:noFill/>
          </a:ln>
        </p:spPr>
      </p:sp>
      <p:sp>
        <p:nvSpPr>
          <p:cNvPr id="77" name="Google Shape;77;p22"/>
          <p:cNvSpPr/>
          <p:nvPr>
            <p:ph idx="3" type="pic"/>
          </p:nvPr>
        </p:nvSpPr>
        <p:spPr>
          <a:xfrm>
            <a:off x="6196749" y="796418"/>
            <a:ext cx="5070763" cy="5255498"/>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 Imagens e Legendas">
  <p:cSld name="17_Slide Imagens e Legendas">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23"/>
          <p:cNvSpPr/>
          <p:nvPr>
            <p:ph idx="2" type="pic"/>
          </p:nvPr>
        </p:nvSpPr>
        <p:spPr>
          <a:xfrm>
            <a:off x="914401" y="796419"/>
            <a:ext cx="5070764" cy="4489956"/>
          </a:xfrm>
          <a:prstGeom prst="rect">
            <a:avLst/>
          </a:prstGeom>
          <a:noFill/>
          <a:ln>
            <a:noFill/>
          </a:ln>
        </p:spPr>
      </p:sp>
      <p:sp>
        <p:nvSpPr>
          <p:cNvPr id="80" name="Google Shape;80;p23"/>
          <p:cNvSpPr/>
          <p:nvPr>
            <p:ph idx="3" type="pic"/>
          </p:nvPr>
        </p:nvSpPr>
        <p:spPr>
          <a:xfrm>
            <a:off x="6196749" y="796418"/>
            <a:ext cx="5070764" cy="4489956"/>
          </a:xfrm>
          <a:prstGeom prst="rect">
            <a:avLst/>
          </a:prstGeom>
          <a:noFill/>
          <a:ln>
            <a:noFill/>
          </a:ln>
        </p:spPr>
      </p:sp>
      <p:sp>
        <p:nvSpPr>
          <p:cNvPr id="81" name="Google Shape;81;p23"/>
          <p:cNvSpPr txBox="1"/>
          <p:nvPr>
            <p:ph idx="1" type="body"/>
          </p:nvPr>
        </p:nvSpPr>
        <p:spPr>
          <a:xfrm>
            <a:off x="914400" y="5524500"/>
            <a:ext cx="5070475" cy="527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82" name="Google Shape;82;p23"/>
          <p:cNvSpPr txBox="1"/>
          <p:nvPr>
            <p:ph idx="4" type="body"/>
          </p:nvPr>
        </p:nvSpPr>
        <p:spPr>
          <a:xfrm>
            <a:off x="6196013" y="5524500"/>
            <a:ext cx="5072062" cy="527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2pPr>
            <a:lvl3pPr indent="-317500" lvl="2" marL="13716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 Imagens">
  <p:cSld name="18_Slide Imagens">
    <p:bg>
      <p:bgPr>
        <a:blipFill>
          <a:blip r:embed="rId2">
            <a:alphaModFix/>
          </a:blip>
          <a:stretch>
            <a:fillRect/>
          </a:stretch>
        </a:blipFill>
      </p:bgPr>
    </p:bg>
    <p:spTree>
      <p:nvGrpSpPr>
        <p:cNvPr id="83" name="Shape 83"/>
        <p:cNvGrpSpPr/>
        <p:nvPr/>
      </p:nvGrpSpPr>
      <p:grpSpPr>
        <a:xfrm>
          <a:off x="0" y="0"/>
          <a:ext cx="0" cy="0"/>
          <a:chOff x="0" y="0"/>
          <a:chExt cx="0" cy="0"/>
        </a:xfrm>
      </p:grpSpPr>
      <p:sp>
        <p:nvSpPr>
          <p:cNvPr id="84" name="Google Shape;84;p24"/>
          <p:cNvSpPr/>
          <p:nvPr>
            <p:ph idx="2" type="pic"/>
          </p:nvPr>
        </p:nvSpPr>
        <p:spPr>
          <a:xfrm>
            <a:off x="914401" y="796419"/>
            <a:ext cx="5070763" cy="5255498"/>
          </a:xfrm>
          <a:prstGeom prst="rect">
            <a:avLst/>
          </a:prstGeom>
          <a:noFill/>
          <a:ln>
            <a:noFill/>
          </a:ln>
        </p:spPr>
      </p:sp>
      <p:sp>
        <p:nvSpPr>
          <p:cNvPr id="85" name="Google Shape;85;p24"/>
          <p:cNvSpPr/>
          <p:nvPr>
            <p:ph idx="3" type="pic"/>
          </p:nvPr>
        </p:nvSpPr>
        <p:spPr>
          <a:xfrm>
            <a:off x="6196749" y="796418"/>
            <a:ext cx="5070763" cy="2544618"/>
          </a:xfrm>
          <a:prstGeom prst="rect">
            <a:avLst/>
          </a:prstGeom>
          <a:noFill/>
          <a:ln>
            <a:noFill/>
          </a:ln>
        </p:spPr>
      </p:sp>
      <p:sp>
        <p:nvSpPr>
          <p:cNvPr id="86" name="Google Shape;86;p24"/>
          <p:cNvSpPr/>
          <p:nvPr>
            <p:ph idx="4" type="pic"/>
          </p:nvPr>
        </p:nvSpPr>
        <p:spPr>
          <a:xfrm>
            <a:off x="6196749" y="3507299"/>
            <a:ext cx="5070763" cy="2544618"/>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 Imagens">
  <p:cSld name="19_Slide Imagens">
    <p:bg>
      <p:bgPr>
        <a:blipFill>
          <a:blip r:embed="rId2">
            <a:alphaModFix/>
          </a:blip>
          <a:stretch>
            <a:fillRect/>
          </a:stretch>
        </a:blipFill>
      </p:bgPr>
    </p:bg>
    <p:spTree>
      <p:nvGrpSpPr>
        <p:cNvPr id="87" name="Shape 87"/>
        <p:cNvGrpSpPr/>
        <p:nvPr/>
      </p:nvGrpSpPr>
      <p:grpSpPr>
        <a:xfrm>
          <a:off x="0" y="0"/>
          <a:ext cx="0" cy="0"/>
          <a:chOff x="0" y="0"/>
          <a:chExt cx="0" cy="0"/>
        </a:xfrm>
      </p:grpSpPr>
      <p:sp>
        <p:nvSpPr>
          <p:cNvPr id="88" name="Google Shape;88;p25"/>
          <p:cNvSpPr/>
          <p:nvPr>
            <p:ph idx="2" type="pic"/>
          </p:nvPr>
        </p:nvSpPr>
        <p:spPr>
          <a:xfrm>
            <a:off x="6196749" y="796418"/>
            <a:ext cx="5070763" cy="2544618"/>
          </a:xfrm>
          <a:prstGeom prst="rect">
            <a:avLst/>
          </a:prstGeom>
          <a:noFill/>
          <a:ln>
            <a:noFill/>
          </a:ln>
        </p:spPr>
      </p:sp>
      <p:sp>
        <p:nvSpPr>
          <p:cNvPr id="89" name="Google Shape;89;p25"/>
          <p:cNvSpPr/>
          <p:nvPr>
            <p:ph idx="3" type="pic"/>
          </p:nvPr>
        </p:nvSpPr>
        <p:spPr>
          <a:xfrm>
            <a:off x="6196749" y="3507299"/>
            <a:ext cx="5070763" cy="2544618"/>
          </a:xfrm>
          <a:prstGeom prst="rect">
            <a:avLst/>
          </a:prstGeom>
          <a:noFill/>
          <a:ln>
            <a:noFill/>
          </a:ln>
        </p:spPr>
      </p:sp>
      <p:sp>
        <p:nvSpPr>
          <p:cNvPr id="90" name="Google Shape;90;p25"/>
          <p:cNvSpPr/>
          <p:nvPr>
            <p:ph idx="4" type="pic"/>
          </p:nvPr>
        </p:nvSpPr>
        <p:spPr>
          <a:xfrm>
            <a:off x="914401" y="806083"/>
            <a:ext cx="5070763" cy="2544618"/>
          </a:xfrm>
          <a:prstGeom prst="rect">
            <a:avLst/>
          </a:prstGeom>
          <a:noFill/>
          <a:ln>
            <a:noFill/>
          </a:ln>
        </p:spPr>
      </p:sp>
      <p:sp>
        <p:nvSpPr>
          <p:cNvPr id="91" name="Google Shape;91;p25"/>
          <p:cNvSpPr/>
          <p:nvPr>
            <p:ph idx="5" type="pic"/>
          </p:nvPr>
        </p:nvSpPr>
        <p:spPr>
          <a:xfrm>
            <a:off x="914401" y="3516964"/>
            <a:ext cx="5070763" cy="2544618"/>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 Textos e Imagens">
  <p:cSld name="19_Slide Textos e Imagens">
    <p:bg>
      <p:bgPr>
        <a:blipFill>
          <a:blip r:embed="rId2">
            <a:alphaModFix/>
          </a:blip>
          <a:stretch>
            <a:fillRect/>
          </a:stretch>
        </a:blipFill>
      </p:bgPr>
    </p:bg>
    <p:spTree>
      <p:nvGrpSpPr>
        <p:cNvPr id="92" name="Shape 92"/>
        <p:cNvGrpSpPr/>
        <p:nvPr/>
      </p:nvGrpSpPr>
      <p:grpSpPr>
        <a:xfrm>
          <a:off x="0" y="0"/>
          <a:ext cx="0" cy="0"/>
          <a:chOff x="0" y="0"/>
          <a:chExt cx="0" cy="0"/>
        </a:xfrm>
      </p:grpSpPr>
      <p:sp>
        <p:nvSpPr>
          <p:cNvPr id="93" name="Google Shape;93;p26"/>
          <p:cNvSpPr/>
          <p:nvPr>
            <p:ph idx="2" type="pic"/>
          </p:nvPr>
        </p:nvSpPr>
        <p:spPr>
          <a:xfrm>
            <a:off x="1009650" y="2647951"/>
            <a:ext cx="4791639" cy="3413632"/>
          </a:xfrm>
          <a:prstGeom prst="rect">
            <a:avLst/>
          </a:prstGeom>
          <a:noFill/>
          <a:ln>
            <a:noFill/>
          </a:ln>
        </p:spPr>
      </p:sp>
      <p:sp>
        <p:nvSpPr>
          <p:cNvPr id="94" name="Google Shape;94;p26"/>
          <p:cNvSpPr txBox="1"/>
          <p:nvPr>
            <p:ph idx="1" type="body"/>
          </p:nvPr>
        </p:nvSpPr>
        <p:spPr>
          <a:xfrm>
            <a:off x="924489" y="796419"/>
            <a:ext cx="4961961" cy="145148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95" name="Google Shape;95;p26"/>
          <p:cNvSpPr/>
          <p:nvPr>
            <p:ph idx="3" type="pic"/>
          </p:nvPr>
        </p:nvSpPr>
        <p:spPr>
          <a:xfrm>
            <a:off x="6390711" y="2647951"/>
            <a:ext cx="4791639" cy="3413632"/>
          </a:xfrm>
          <a:prstGeom prst="rect">
            <a:avLst/>
          </a:prstGeom>
          <a:noFill/>
          <a:ln>
            <a:noFill/>
          </a:ln>
        </p:spPr>
      </p:sp>
      <p:sp>
        <p:nvSpPr>
          <p:cNvPr id="96" name="Google Shape;96;p26"/>
          <p:cNvSpPr txBox="1"/>
          <p:nvPr>
            <p:ph idx="4" type="body"/>
          </p:nvPr>
        </p:nvSpPr>
        <p:spPr>
          <a:xfrm>
            <a:off x="6305550" y="796419"/>
            <a:ext cx="4961961" cy="145148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 Título, Textos e Imagens">
  <p:cSld name="20_Slide Título, Textos e Imagens">
    <p:bg>
      <p:bgPr>
        <a:blipFill>
          <a:blip r:embed="rId2">
            <a:alphaModFix/>
          </a:blip>
          <a:stretch>
            <a:fillRect/>
          </a:stretch>
        </a:blipFill>
      </p:bgPr>
    </p:bg>
    <p:spTree>
      <p:nvGrpSpPr>
        <p:cNvPr id="97" name="Shape 97"/>
        <p:cNvGrpSpPr/>
        <p:nvPr/>
      </p:nvGrpSpPr>
      <p:grpSpPr>
        <a:xfrm>
          <a:off x="0" y="0"/>
          <a:ext cx="0" cy="0"/>
          <a:chOff x="0" y="0"/>
          <a:chExt cx="0" cy="0"/>
        </a:xfrm>
      </p:grpSpPr>
      <p:sp>
        <p:nvSpPr>
          <p:cNvPr id="98" name="Google Shape;98;p27"/>
          <p:cNvSpPr/>
          <p:nvPr>
            <p:ph idx="2" type="pic"/>
          </p:nvPr>
        </p:nvSpPr>
        <p:spPr>
          <a:xfrm>
            <a:off x="1009650" y="2647951"/>
            <a:ext cx="4791639" cy="3413632"/>
          </a:xfrm>
          <a:prstGeom prst="rect">
            <a:avLst/>
          </a:prstGeom>
          <a:noFill/>
          <a:ln>
            <a:noFill/>
          </a:ln>
        </p:spPr>
      </p:sp>
      <p:sp>
        <p:nvSpPr>
          <p:cNvPr id="99" name="Google Shape;99;p27"/>
          <p:cNvSpPr txBox="1"/>
          <p:nvPr>
            <p:ph idx="1" type="body"/>
          </p:nvPr>
        </p:nvSpPr>
        <p:spPr>
          <a:xfrm>
            <a:off x="924489" y="1452563"/>
            <a:ext cx="4961961" cy="89535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100" name="Google Shape;100;p27"/>
          <p:cNvSpPr/>
          <p:nvPr>
            <p:ph idx="3" type="pic"/>
          </p:nvPr>
        </p:nvSpPr>
        <p:spPr>
          <a:xfrm>
            <a:off x="6390711" y="2647951"/>
            <a:ext cx="4791639" cy="3413632"/>
          </a:xfrm>
          <a:prstGeom prst="rect">
            <a:avLst/>
          </a:prstGeom>
          <a:noFill/>
          <a:ln>
            <a:noFill/>
          </a:ln>
        </p:spPr>
      </p:sp>
      <p:sp>
        <p:nvSpPr>
          <p:cNvPr id="101" name="Google Shape;101;p27"/>
          <p:cNvSpPr txBox="1"/>
          <p:nvPr>
            <p:ph idx="4" type="body"/>
          </p:nvPr>
        </p:nvSpPr>
        <p:spPr>
          <a:xfrm>
            <a:off x="6305550" y="1452563"/>
            <a:ext cx="4961961" cy="89535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400"/>
              <a:buFont typeface="Arial"/>
              <a:buNone/>
              <a:defRPr b="0" i="0" sz="1400" u="none" cap="none" strike="noStrike">
                <a:solidFill>
                  <a:schemeClr val="dk1"/>
                </a:solidFill>
                <a:latin typeface="Poppins ExtraLight"/>
                <a:ea typeface="Poppins ExtraLight"/>
                <a:cs typeface="Poppins ExtraLight"/>
                <a:sym typeface="Poppins ExtraLight"/>
              </a:defRPr>
            </a:lvl1pPr>
            <a:lvl2pPr indent="-323850" lvl="1" marL="9144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2pPr>
            <a:lvl3pPr indent="-323850" lvl="2" marL="13716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3pPr>
            <a:lvl4pPr indent="-323850" lvl="3" marL="18288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4pPr>
            <a:lvl5pPr indent="-323850" lvl="4" marL="2286000" marR="0" rtl="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Poppins ExtraLight"/>
                <a:ea typeface="Poppins ExtraLight"/>
                <a:cs typeface="Poppins ExtraLight"/>
                <a:sym typeface="Poppins Extra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
        <p:nvSpPr>
          <p:cNvPr id="102" name="Google Shape;102;p27"/>
          <p:cNvSpPr txBox="1"/>
          <p:nvPr>
            <p:ph idx="5" type="body"/>
          </p:nvPr>
        </p:nvSpPr>
        <p:spPr>
          <a:xfrm>
            <a:off x="828675" y="762000"/>
            <a:ext cx="10439400" cy="3905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1" i="0" sz="1800" u="none" cap="none" strike="noStrike">
                <a:solidFill>
                  <a:schemeClr val="dk1"/>
                </a:solidFill>
                <a:latin typeface="Poppins"/>
                <a:ea typeface="Poppins"/>
                <a:cs typeface="Poppins"/>
                <a:sym typeface="Poppins"/>
              </a:defRPr>
            </a:lvl1pPr>
            <a:lvl2pPr indent="-342900" lvl="1" marL="9144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2pPr>
            <a:lvl3pPr indent="-342900" lvl="2" marL="13716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1"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Light"/>
                <a:ea typeface="Poppins Light"/>
                <a:cs typeface="Poppins Light"/>
                <a:sym typeface="Poppi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 Imagens">
  <p:cSld name="21_Slide Imagens">
    <p:bg>
      <p:bgPr>
        <a:blipFill>
          <a:blip r:embed="rId2">
            <a:alphaModFix/>
          </a:blip>
          <a:stretch>
            <a:fillRect/>
          </a:stretch>
        </a:blipFill>
      </p:bgPr>
    </p:bg>
    <p:spTree>
      <p:nvGrpSpPr>
        <p:cNvPr id="103" name="Shape 103"/>
        <p:cNvGrpSpPr/>
        <p:nvPr/>
      </p:nvGrpSpPr>
      <p:grpSpPr>
        <a:xfrm>
          <a:off x="0" y="0"/>
          <a:ext cx="0" cy="0"/>
          <a:chOff x="0" y="0"/>
          <a:chExt cx="0" cy="0"/>
        </a:xfrm>
      </p:grpSpPr>
      <p:sp>
        <p:nvSpPr>
          <p:cNvPr id="104" name="Google Shape;104;p28"/>
          <p:cNvSpPr/>
          <p:nvPr>
            <p:ph idx="2" type="pic"/>
          </p:nvPr>
        </p:nvSpPr>
        <p:spPr>
          <a:xfrm>
            <a:off x="914401" y="796419"/>
            <a:ext cx="5070763" cy="2544618"/>
          </a:xfrm>
          <a:prstGeom prst="rect">
            <a:avLst/>
          </a:prstGeom>
          <a:noFill/>
          <a:ln>
            <a:noFill/>
          </a:ln>
        </p:spPr>
      </p:sp>
      <p:sp>
        <p:nvSpPr>
          <p:cNvPr id="105" name="Google Shape;105;p28"/>
          <p:cNvSpPr/>
          <p:nvPr>
            <p:ph idx="3" type="pic"/>
          </p:nvPr>
        </p:nvSpPr>
        <p:spPr>
          <a:xfrm>
            <a:off x="6196749" y="796418"/>
            <a:ext cx="5070763" cy="2544618"/>
          </a:xfrm>
          <a:prstGeom prst="rect">
            <a:avLst/>
          </a:prstGeom>
          <a:noFill/>
          <a:ln>
            <a:noFill/>
          </a:ln>
        </p:spPr>
      </p:sp>
      <p:sp>
        <p:nvSpPr>
          <p:cNvPr id="106" name="Google Shape;106;p28"/>
          <p:cNvSpPr/>
          <p:nvPr>
            <p:ph idx="4" type="pic"/>
          </p:nvPr>
        </p:nvSpPr>
        <p:spPr>
          <a:xfrm>
            <a:off x="932874" y="3507300"/>
            <a:ext cx="3297670" cy="2544618"/>
          </a:xfrm>
          <a:prstGeom prst="rect">
            <a:avLst/>
          </a:prstGeom>
          <a:noFill/>
          <a:ln>
            <a:noFill/>
          </a:ln>
        </p:spPr>
      </p:sp>
      <p:sp>
        <p:nvSpPr>
          <p:cNvPr id="107" name="Google Shape;107;p28"/>
          <p:cNvSpPr/>
          <p:nvPr>
            <p:ph idx="5" type="pic"/>
          </p:nvPr>
        </p:nvSpPr>
        <p:spPr>
          <a:xfrm>
            <a:off x="4465638" y="3514443"/>
            <a:ext cx="3297670" cy="2544618"/>
          </a:xfrm>
          <a:prstGeom prst="rect">
            <a:avLst/>
          </a:prstGeom>
          <a:noFill/>
          <a:ln>
            <a:noFill/>
          </a:ln>
        </p:spPr>
      </p:sp>
      <p:sp>
        <p:nvSpPr>
          <p:cNvPr id="108" name="Google Shape;108;p28"/>
          <p:cNvSpPr/>
          <p:nvPr>
            <p:ph idx="6" type="pic"/>
          </p:nvPr>
        </p:nvSpPr>
        <p:spPr>
          <a:xfrm>
            <a:off x="7969842" y="3507299"/>
            <a:ext cx="3297670" cy="2544618"/>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 Imagens">
  <p:cSld name="22_Slide Imagens">
    <p:bg>
      <p:bgPr>
        <a:blipFill>
          <a:blip r:embed="rId2">
            <a:alphaModFix/>
          </a:blip>
          <a:stretch>
            <a:fillRect/>
          </a:stretch>
        </a:blipFill>
      </p:bgPr>
    </p:bg>
    <p:spTree>
      <p:nvGrpSpPr>
        <p:cNvPr id="109" name="Shape 109"/>
        <p:cNvGrpSpPr/>
        <p:nvPr/>
      </p:nvGrpSpPr>
      <p:grpSpPr>
        <a:xfrm>
          <a:off x="0" y="0"/>
          <a:ext cx="0" cy="0"/>
          <a:chOff x="0" y="0"/>
          <a:chExt cx="0" cy="0"/>
        </a:xfrm>
      </p:grpSpPr>
      <p:sp>
        <p:nvSpPr>
          <p:cNvPr id="110" name="Google Shape;110;p29"/>
          <p:cNvSpPr/>
          <p:nvPr>
            <p:ph idx="2" type="pic"/>
          </p:nvPr>
        </p:nvSpPr>
        <p:spPr>
          <a:xfrm>
            <a:off x="914401" y="796419"/>
            <a:ext cx="3297670" cy="2544618"/>
          </a:xfrm>
          <a:prstGeom prst="rect">
            <a:avLst/>
          </a:prstGeom>
          <a:noFill/>
          <a:ln>
            <a:noFill/>
          </a:ln>
        </p:spPr>
      </p:sp>
      <p:sp>
        <p:nvSpPr>
          <p:cNvPr id="111" name="Google Shape;111;p29"/>
          <p:cNvSpPr/>
          <p:nvPr>
            <p:ph idx="3" type="pic"/>
          </p:nvPr>
        </p:nvSpPr>
        <p:spPr>
          <a:xfrm>
            <a:off x="4447165" y="803562"/>
            <a:ext cx="3297670" cy="2544618"/>
          </a:xfrm>
          <a:prstGeom prst="rect">
            <a:avLst/>
          </a:prstGeom>
          <a:noFill/>
          <a:ln>
            <a:noFill/>
          </a:ln>
        </p:spPr>
      </p:sp>
      <p:sp>
        <p:nvSpPr>
          <p:cNvPr id="112" name="Google Shape;112;p29"/>
          <p:cNvSpPr/>
          <p:nvPr>
            <p:ph idx="4" type="pic"/>
          </p:nvPr>
        </p:nvSpPr>
        <p:spPr>
          <a:xfrm>
            <a:off x="7951369" y="796418"/>
            <a:ext cx="3297670" cy="2544618"/>
          </a:xfrm>
          <a:prstGeom prst="rect">
            <a:avLst/>
          </a:prstGeom>
          <a:noFill/>
          <a:ln>
            <a:noFill/>
          </a:ln>
        </p:spPr>
      </p:sp>
      <p:sp>
        <p:nvSpPr>
          <p:cNvPr id="113" name="Google Shape;113;p29"/>
          <p:cNvSpPr/>
          <p:nvPr>
            <p:ph idx="5" type="pic"/>
          </p:nvPr>
        </p:nvSpPr>
        <p:spPr>
          <a:xfrm>
            <a:off x="932874" y="3507300"/>
            <a:ext cx="3297670" cy="2544618"/>
          </a:xfrm>
          <a:prstGeom prst="rect">
            <a:avLst/>
          </a:prstGeom>
          <a:noFill/>
          <a:ln>
            <a:noFill/>
          </a:ln>
        </p:spPr>
      </p:sp>
      <p:sp>
        <p:nvSpPr>
          <p:cNvPr id="114" name="Google Shape;114;p29"/>
          <p:cNvSpPr/>
          <p:nvPr>
            <p:ph idx="6" type="pic"/>
          </p:nvPr>
        </p:nvSpPr>
        <p:spPr>
          <a:xfrm>
            <a:off x="4465638" y="3514443"/>
            <a:ext cx="3297670" cy="2544618"/>
          </a:xfrm>
          <a:prstGeom prst="rect">
            <a:avLst/>
          </a:prstGeom>
          <a:noFill/>
          <a:ln>
            <a:noFill/>
          </a:ln>
        </p:spPr>
      </p:sp>
      <p:sp>
        <p:nvSpPr>
          <p:cNvPr id="115" name="Google Shape;115;p29"/>
          <p:cNvSpPr/>
          <p:nvPr>
            <p:ph idx="7" type="pic"/>
          </p:nvPr>
        </p:nvSpPr>
        <p:spPr>
          <a:xfrm>
            <a:off x="7969842" y="3507299"/>
            <a:ext cx="3297670" cy="2544618"/>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7"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wagner.perin@ufes.br" TargetMode="Externa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Clr>
                <a:srgbClr val="202020"/>
              </a:buClr>
              <a:buSzPts val="1600"/>
              <a:buChar char="●"/>
            </a:pPr>
            <a:r>
              <a:rPr b="1" lang="pt-BR">
                <a:solidFill>
                  <a:srgbClr val="202020"/>
                </a:solidFill>
                <a:latin typeface="Poppins"/>
                <a:ea typeface="Poppins"/>
                <a:cs typeface="Poppins"/>
                <a:sym typeface="Poppins"/>
              </a:rPr>
              <a:t>Disciplina: </a:t>
            </a:r>
            <a:r>
              <a:rPr lang="pt-BR">
                <a:solidFill>
                  <a:srgbClr val="202020"/>
                </a:solidFill>
              </a:rPr>
              <a:t>Modelagem Informacional</a:t>
            </a:r>
            <a:endParaRPr>
              <a:solidFill>
                <a:srgbClr val="202020"/>
              </a:solidFill>
            </a:endParaRPr>
          </a:p>
          <a:p>
            <a:pPr indent="-330200" lvl="0" marL="457200" rtl="0" algn="l">
              <a:lnSpc>
                <a:spcPct val="100000"/>
              </a:lnSpc>
              <a:spcBef>
                <a:spcPts val="0"/>
              </a:spcBef>
              <a:spcAft>
                <a:spcPts val="0"/>
              </a:spcAft>
              <a:buClr>
                <a:srgbClr val="202020"/>
              </a:buClr>
              <a:buSzPts val="1600"/>
              <a:buChar char="●"/>
            </a:pPr>
            <a:r>
              <a:rPr b="1" lang="pt-BR">
                <a:solidFill>
                  <a:srgbClr val="202020"/>
                </a:solidFill>
                <a:latin typeface="Poppins"/>
                <a:ea typeface="Poppins"/>
                <a:cs typeface="Poppins"/>
                <a:sym typeface="Poppins"/>
              </a:rPr>
              <a:t>Curso: </a:t>
            </a:r>
            <a:r>
              <a:rPr lang="pt-BR">
                <a:solidFill>
                  <a:srgbClr val="202020"/>
                </a:solidFill>
              </a:rPr>
              <a:t>Graduação em Ciência de Dados para Negócios</a:t>
            </a:r>
            <a:endParaRPr>
              <a:solidFill>
                <a:srgbClr val="202020"/>
              </a:solidFill>
            </a:endParaRPr>
          </a:p>
          <a:p>
            <a:pPr indent="-330200" lvl="0" marL="457200" rtl="0" algn="l">
              <a:lnSpc>
                <a:spcPct val="100000"/>
              </a:lnSpc>
              <a:spcBef>
                <a:spcPts val="0"/>
              </a:spcBef>
              <a:spcAft>
                <a:spcPts val="0"/>
              </a:spcAft>
              <a:buClr>
                <a:srgbClr val="202020"/>
              </a:buClr>
              <a:buSzPts val="1600"/>
              <a:buChar char="●"/>
            </a:pPr>
            <a:r>
              <a:rPr b="1" lang="pt-BR">
                <a:solidFill>
                  <a:srgbClr val="202020"/>
                </a:solidFill>
                <a:latin typeface="Poppins"/>
                <a:ea typeface="Poppins"/>
                <a:cs typeface="Poppins"/>
                <a:sym typeface="Poppins"/>
              </a:rPr>
              <a:t>Carga Horária: </a:t>
            </a:r>
            <a:r>
              <a:rPr lang="pt-BR">
                <a:solidFill>
                  <a:srgbClr val="202020"/>
                </a:solidFill>
              </a:rPr>
              <a:t>64 h/a</a:t>
            </a:r>
            <a:endParaRPr>
              <a:solidFill>
                <a:srgbClr val="202020"/>
              </a:solidFill>
            </a:endParaRPr>
          </a:p>
          <a:p>
            <a:pPr indent="-330200" lvl="0" marL="457200" rtl="0" algn="l">
              <a:lnSpc>
                <a:spcPct val="100000"/>
              </a:lnSpc>
              <a:spcBef>
                <a:spcPts val="0"/>
              </a:spcBef>
              <a:spcAft>
                <a:spcPts val="0"/>
              </a:spcAft>
              <a:buClr>
                <a:srgbClr val="202020"/>
              </a:buClr>
              <a:buSzPts val="1600"/>
              <a:buChar char="●"/>
            </a:pPr>
            <a:r>
              <a:rPr b="1" lang="pt-BR">
                <a:solidFill>
                  <a:srgbClr val="202020"/>
                </a:solidFill>
                <a:latin typeface="Poppins"/>
                <a:ea typeface="Poppins"/>
                <a:cs typeface="Poppins"/>
                <a:sym typeface="Poppins"/>
              </a:rPr>
              <a:t>Semestre: </a:t>
            </a:r>
            <a:r>
              <a:rPr lang="pt-BR">
                <a:solidFill>
                  <a:srgbClr val="202020"/>
                </a:solidFill>
              </a:rPr>
              <a:t>2026/2</a:t>
            </a:r>
            <a:endParaRPr>
              <a:solidFill>
                <a:srgbClr val="202020"/>
              </a:solidFill>
            </a:endParaRPr>
          </a:p>
          <a:p>
            <a:pPr indent="-330200" lvl="0" marL="457200" rtl="0" algn="l">
              <a:lnSpc>
                <a:spcPct val="100000"/>
              </a:lnSpc>
              <a:spcBef>
                <a:spcPts val="0"/>
              </a:spcBef>
              <a:spcAft>
                <a:spcPts val="0"/>
              </a:spcAft>
              <a:buClr>
                <a:srgbClr val="202020"/>
              </a:buClr>
              <a:buSzPts val="1600"/>
              <a:buChar char="●"/>
            </a:pPr>
            <a:r>
              <a:rPr b="1" lang="pt-BR">
                <a:solidFill>
                  <a:srgbClr val="202020"/>
                </a:solidFill>
                <a:latin typeface="Poppins"/>
                <a:ea typeface="Poppins"/>
                <a:cs typeface="Poppins"/>
                <a:sym typeface="Poppins"/>
              </a:rPr>
              <a:t>Horário das Aulas: </a:t>
            </a:r>
            <a:r>
              <a:rPr lang="pt-BR">
                <a:solidFill>
                  <a:srgbClr val="202020"/>
                </a:solidFill>
              </a:rPr>
              <a:t>Quinta (07h30 às 11h30)</a:t>
            </a:r>
            <a:endParaRPr>
              <a:solidFill>
                <a:srgbClr val="202020"/>
              </a:solidFill>
            </a:endParaRPr>
          </a:p>
          <a:p>
            <a:pPr indent="-330200" lvl="0" marL="457200" rtl="0" algn="l">
              <a:lnSpc>
                <a:spcPct val="100000"/>
              </a:lnSpc>
              <a:spcBef>
                <a:spcPts val="0"/>
              </a:spcBef>
              <a:spcAft>
                <a:spcPts val="0"/>
              </a:spcAft>
              <a:buClr>
                <a:srgbClr val="202020"/>
              </a:buClr>
              <a:buSzPts val="1600"/>
              <a:buChar char="●"/>
            </a:pPr>
            <a:r>
              <a:rPr b="1" lang="pt-BR">
                <a:solidFill>
                  <a:srgbClr val="202020"/>
                </a:solidFill>
                <a:latin typeface="Poppins"/>
                <a:ea typeface="Poppins"/>
                <a:cs typeface="Poppins"/>
                <a:sym typeface="Poppins"/>
              </a:rPr>
              <a:t>e-Mail: </a:t>
            </a:r>
            <a:r>
              <a:rPr b="1" lang="pt-BR" u="sng">
                <a:solidFill>
                  <a:srgbClr val="202020"/>
                </a:solidFill>
                <a:latin typeface="Poppins"/>
                <a:ea typeface="Poppins"/>
                <a:cs typeface="Poppins"/>
                <a:sym typeface="Poppins"/>
                <a:hlinkClick r:id="rId3">
                  <a:extLst>
                    <a:ext uri="{A12FA001-AC4F-418D-AE19-62706E023703}">
                      <ahyp:hlinkClr val="tx"/>
                    </a:ext>
                  </a:extLst>
                </a:hlinkClick>
              </a:rPr>
              <a:t>wagner.perin@ufes.br</a:t>
            </a:r>
            <a:endParaRPr b="1">
              <a:solidFill>
                <a:srgbClr val="202020"/>
              </a:solidFill>
              <a:latin typeface="Poppins"/>
              <a:ea typeface="Poppins"/>
              <a:cs typeface="Poppins"/>
              <a:sym typeface="Poppins"/>
            </a:endParaRPr>
          </a:p>
          <a:p>
            <a:pPr indent="0" lvl="0" marL="0" rtl="0" algn="l">
              <a:lnSpc>
                <a:spcPct val="100000"/>
              </a:lnSpc>
              <a:spcBef>
                <a:spcPts val="0"/>
              </a:spcBef>
              <a:spcAft>
                <a:spcPts val="0"/>
              </a:spcAft>
              <a:buSzPts val="1600"/>
              <a:buNone/>
            </a:pPr>
            <a:r>
              <a:t/>
            </a:r>
            <a:endParaRPr b="1">
              <a:solidFill>
                <a:srgbClr val="202020"/>
              </a:solidFill>
              <a:latin typeface="Poppins"/>
              <a:ea typeface="Poppins"/>
              <a:cs typeface="Poppins"/>
              <a:sym typeface="Poppins"/>
            </a:endParaRPr>
          </a:p>
          <a:p>
            <a:pPr indent="0" lvl="0" marL="0" rtl="0" algn="l">
              <a:lnSpc>
                <a:spcPct val="100000"/>
              </a:lnSpc>
              <a:spcBef>
                <a:spcPts val="0"/>
              </a:spcBef>
              <a:spcAft>
                <a:spcPts val="0"/>
              </a:spcAft>
              <a:buSzPts val="1600"/>
              <a:buNone/>
            </a:pPr>
            <a:r>
              <a:rPr b="1" lang="pt-BR" sz="2000">
                <a:solidFill>
                  <a:srgbClr val="B41B26"/>
                </a:solidFill>
                <a:latin typeface="Poppins"/>
                <a:ea typeface="Poppins"/>
                <a:cs typeface="Poppins"/>
                <a:sym typeface="Poppins"/>
              </a:rPr>
              <a:t>Ementa</a:t>
            </a:r>
            <a:endParaRPr b="1" sz="2000">
              <a:solidFill>
                <a:srgbClr val="B41B26"/>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latin typeface="Poppins"/>
                <a:ea typeface="Poppins"/>
                <a:cs typeface="Poppins"/>
                <a:sym typeface="Poppins"/>
              </a:rPr>
              <a:t>Formatos de Dados.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latin typeface="Poppins"/>
                <a:ea typeface="Poppins"/>
                <a:cs typeface="Poppins"/>
                <a:sym typeface="Poppins"/>
              </a:rPr>
              <a:t>Modelagem Dimensional e Modelos de Dados.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latin typeface="Poppins"/>
                <a:ea typeface="Poppins"/>
                <a:cs typeface="Poppins"/>
                <a:sym typeface="Poppins"/>
              </a:rPr>
              <a:t>Dados Estruturados e Dados não Estruturados.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latin typeface="Poppins"/>
                <a:ea typeface="Poppins"/>
                <a:cs typeface="Poppins"/>
                <a:sym typeface="Poppins"/>
              </a:rPr>
              <a:t>Extração, Transformação e Carga (ETL e ELT).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latin typeface="Poppins"/>
                <a:ea typeface="Poppins"/>
                <a:cs typeface="Poppins"/>
                <a:sym typeface="Poppins"/>
              </a:rPr>
              <a:t>Dados em Streaming.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latin typeface="Poppins"/>
                <a:ea typeface="Poppins"/>
                <a:cs typeface="Poppins"/>
                <a:sym typeface="Poppins"/>
              </a:rPr>
              <a:t>Projetos de Data Warehouse e Data Lake.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latin typeface="Poppins"/>
                <a:ea typeface="Poppins"/>
                <a:cs typeface="Poppins"/>
                <a:sym typeface="Poppins"/>
              </a:rPr>
              <a:t>Sistemas e Melhores Práticas para Gestão de Big Data.</a:t>
            </a:r>
            <a:endParaRPr>
              <a:solidFill>
                <a:srgbClr val="202020"/>
              </a:solidFill>
            </a:endParaRPr>
          </a:p>
        </p:txBody>
      </p:sp>
      <p:sp>
        <p:nvSpPr>
          <p:cNvPr id="125" name="Google Shape;125;p2"/>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Apresentação</a:t>
            </a:r>
            <a:endParaRPr sz="2200">
              <a:solidFill>
                <a:srgbClr val="B41B26"/>
              </a:solidFill>
            </a:endParaRPr>
          </a:p>
        </p:txBody>
      </p:sp>
      <p:pic>
        <p:nvPicPr>
          <p:cNvPr id="126" name="Google Shape;126;p2"/>
          <p:cNvPicPr preferRelativeResize="0"/>
          <p:nvPr/>
        </p:nvPicPr>
        <p:blipFill rotWithShape="1">
          <a:blip r:embed="rId4">
            <a:alphaModFix/>
          </a:blip>
          <a:srcRect b="0" l="0" r="0" t="0"/>
          <a:stretch/>
        </p:blipFill>
        <p:spPr>
          <a:xfrm>
            <a:off x="9422748" y="1209675"/>
            <a:ext cx="2077525" cy="2008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f5cfaf56cc_0_3"/>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r>
              <a:rPr b="1" lang="pt-BR" sz="2000">
                <a:solidFill>
                  <a:srgbClr val="B41B26"/>
                </a:solidFill>
                <a:latin typeface="Poppins"/>
                <a:ea typeface="Poppins"/>
                <a:cs typeface="Poppins"/>
                <a:sym typeface="Poppins"/>
              </a:rPr>
              <a:t>Objetivos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SzPts val="1600"/>
              <a:buNone/>
            </a:pPr>
            <a:r>
              <a:t/>
            </a:r>
            <a:endParaRPr b="1" sz="2000">
              <a:solidFill>
                <a:srgbClr val="B41B26"/>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rPr>
              <a:t>Diferir bases de dados estruturados e não estruturados;</a:t>
            </a:r>
            <a:endParaRPr>
              <a:solidFill>
                <a:srgbClr val="202020"/>
              </a:solidFill>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rPr>
              <a:t>Como construir bases de dados não estruturados;</a:t>
            </a:r>
            <a:endParaRPr>
              <a:solidFill>
                <a:srgbClr val="202020"/>
              </a:solidFill>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rPr>
              <a:t>Como construir um repositório central de informações;</a:t>
            </a:r>
            <a:endParaRPr>
              <a:solidFill>
                <a:srgbClr val="202020"/>
              </a:solidFill>
            </a:endParaRPr>
          </a:p>
          <a:p>
            <a:pPr indent="-330200" lvl="0" marL="457200" rtl="0" algn="l">
              <a:lnSpc>
                <a:spcPct val="100000"/>
              </a:lnSpc>
              <a:spcBef>
                <a:spcPts val="0"/>
              </a:spcBef>
              <a:spcAft>
                <a:spcPts val="0"/>
              </a:spcAft>
              <a:buClr>
                <a:srgbClr val="202020"/>
              </a:buClr>
              <a:buSzPts val="1600"/>
              <a:buChar char="●"/>
            </a:pPr>
            <a:r>
              <a:rPr lang="pt-BR">
                <a:solidFill>
                  <a:srgbClr val="202020"/>
                </a:solidFill>
              </a:rPr>
              <a:t>Construir diretrizes e ações para gestão de grandes massas de dados.</a:t>
            </a:r>
            <a:endParaRPr>
              <a:solidFill>
                <a:srgbClr val="202020"/>
              </a:solidFill>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p:txBody>
      </p:sp>
      <p:sp>
        <p:nvSpPr>
          <p:cNvPr id="132" name="Google Shape;132;g3f5cfaf56cc_0_3"/>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Apresentação</a:t>
            </a:r>
            <a:endParaRPr sz="2200">
              <a:solidFill>
                <a:srgbClr val="B41B2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f5cfaf56cc_0_10"/>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p:txBody>
      </p:sp>
      <p:sp>
        <p:nvSpPr>
          <p:cNvPr id="138" name="Google Shape;138;g3f5cfaf56cc_0_10"/>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Apresentação</a:t>
            </a:r>
            <a:endParaRPr sz="2200">
              <a:solidFill>
                <a:srgbClr val="B41B26"/>
              </a:solidFill>
            </a:endParaRPr>
          </a:p>
        </p:txBody>
      </p:sp>
      <p:pic>
        <p:nvPicPr>
          <p:cNvPr id="139" name="Google Shape;139;g3f5cfaf56cc_0_10"/>
          <p:cNvPicPr preferRelativeResize="0"/>
          <p:nvPr/>
        </p:nvPicPr>
        <p:blipFill>
          <a:blip r:embed="rId3">
            <a:alphaModFix/>
          </a:blip>
          <a:stretch>
            <a:fillRect/>
          </a:stretch>
        </p:blipFill>
        <p:spPr>
          <a:xfrm>
            <a:off x="71450" y="2542975"/>
            <a:ext cx="12029624" cy="2022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title"/>
          </p:nvPr>
        </p:nvSpPr>
        <p:spPr>
          <a:xfrm>
            <a:off x="1400175" y="2790825"/>
            <a:ext cx="9838800" cy="1276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4800"/>
              <a:buFont typeface="Poppins"/>
              <a:buNone/>
            </a:pPr>
            <a:r>
              <a:rPr lang="pt-BR" sz="4200">
                <a:solidFill>
                  <a:srgbClr val="202020"/>
                </a:solidFill>
              </a:rPr>
              <a:t>Modelagem Informacional</a:t>
            </a:r>
            <a:endParaRPr sz="4200">
              <a:solidFill>
                <a:srgbClr val="202020"/>
              </a:solidFill>
            </a:endParaRPr>
          </a:p>
        </p:txBody>
      </p:sp>
      <p:sp>
        <p:nvSpPr>
          <p:cNvPr id="145" name="Google Shape;145;p1"/>
          <p:cNvSpPr txBox="1"/>
          <p:nvPr>
            <p:ph idx="1" type="body"/>
          </p:nvPr>
        </p:nvSpPr>
        <p:spPr>
          <a:xfrm>
            <a:off x="1400200" y="4067322"/>
            <a:ext cx="9838800" cy="7239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2200"/>
              <a:buNone/>
            </a:pPr>
            <a:r>
              <a:rPr lang="pt-BR" sz="2100">
                <a:solidFill>
                  <a:srgbClr val="202020"/>
                </a:solidFill>
              </a:rPr>
              <a:t>Aula 01 - Introdução à Modelagem Informacional</a:t>
            </a:r>
            <a:endParaRPr sz="2000">
              <a:solidFill>
                <a:srgbClr val="202020"/>
              </a:solidFill>
            </a:endParaRPr>
          </a:p>
        </p:txBody>
      </p:sp>
      <p:sp>
        <p:nvSpPr>
          <p:cNvPr id="146" name="Google Shape;146;p1"/>
          <p:cNvSpPr txBox="1"/>
          <p:nvPr>
            <p:ph idx="1" type="body"/>
          </p:nvPr>
        </p:nvSpPr>
        <p:spPr>
          <a:xfrm>
            <a:off x="1400200" y="5963822"/>
            <a:ext cx="9838800" cy="7239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2200"/>
              <a:buNone/>
            </a:pPr>
            <a:r>
              <a:rPr lang="pt-BR" sz="2100">
                <a:solidFill>
                  <a:srgbClr val="202020"/>
                </a:solidFill>
              </a:rPr>
              <a:t>Prof. Dr. Wagner de A. Perin</a:t>
            </a:r>
            <a:endParaRPr sz="2000">
              <a:solidFill>
                <a:srgbClr val="20202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f5cfaf56cc_0_28"/>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Problema Investigado</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a:p>
            <a:pPr indent="0" lvl="0" marL="450000" marR="929359" rtl="0" algn="just">
              <a:lnSpc>
                <a:spcPct val="100000"/>
              </a:lnSpc>
              <a:spcBef>
                <a:spcPts val="0"/>
              </a:spcBef>
              <a:spcAft>
                <a:spcPts val="0"/>
              </a:spcAft>
              <a:buSzPts val="1600"/>
              <a:buNone/>
            </a:pPr>
            <a:r>
              <a:rPr b="1" i="1" lang="pt-BR">
                <a:solidFill>
                  <a:srgbClr val="202020"/>
                </a:solidFill>
                <a:latin typeface="Poppins"/>
                <a:ea typeface="Poppins"/>
                <a:cs typeface="Poppins"/>
                <a:sym typeface="Poppins"/>
              </a:rPr>
              <a:t>Uma grande empresa de varejo nacional gasta mais de R$ 500 mil/mês em servidores de banco de dados redundantes, tentando unificar vendas de ERP (SQL), navegação do app (JSON) e avaliações (Texto), mas falha em responder perguntas básicas da diretoria de forma ágil.</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rPr b="1" lang="pt-BR">
                <a:solidFill>
                  <a:srgbClr val="B41B26"/>
                </a:solidFill>
                <a:latin typeface="Poppins"/>
                <a:ea typeface="Poppins"/>
                <a:cs typeface="Poppins"/>
                <a:sym typeface="Poppins"/>
              </a:rPr>
              <a:t>O Cenário de Fragmentação:</a:t>
            </a:r>
            <a:endParaRPr b="1">
              <a:solidFill>
                <a:srgbClr val="B41B26"/>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a:solidFill>
                <a:srgbClr val="B41B26"/>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b="1" lang="pt-BR">
                <a:solidFill>
                  <a:srgbClr val="202020"/>
                </a:solidFill>
                <a:latin typeface="Poppins"/>
                <a:ea typeface="Poppins"/>
                <a:cs typeface="Poppins"/>
                <a:sym typeface="Poppins"/>
              </a:rPr>
              <a:t>Vendas: </a:t>
            </a:r>
            <a:r>
              <a:rPr lang="pt-BR">
                <a:solidFill>
                  <a:srgbClr val="202020"/>
                </a:solidFill>
                <a:latin typeface="Poppins"/>
                <a:ea typeface="Poppins"/>
                <a:cs typeface="Poppins"/>
                <a:sym typeface="Poppins"/>
              </a:rPr>
              <a:t>Banco SQL (ERP).</a:t>
            </a:r>
            <a:endParaRPr>
              <a:solidFill>
                <a:srgbClr val="202020"/>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b="1" lang="pt-BR">
                <a:solidFill>
                  <a:srgbClr val="202020"/>
                </a:solidFill>
                <a:latin typeface="Poppins"/>
                <a:ea typeface="Poppins"/>
                <a:cs typeface="Poppins"/>
                <a:sym typeface="Poppins"/>
              </a:rPr>
              <a:t>Avaliações de Clientes: </a:t>
            </a:r>
            <a:r>
              <a:rPr lang="pt-BR">
                <a:solidFill>
                  <a:srgbClr val="202020"/>
                </a:solidFill>
                <a:latin typeface="Poppins"/>
                <a:ea typeface="Poppins"/>
                <a:cs typeface="Poppins"/>
                <a:sym typeface="Poppins"/>
              </a:rPr>
              <a:t>Texto livre no Reclame Aqui e Redes Sociais.</a:t>
            </a:r>
            <a:endParaRPr>
              <a:solidFill>
                <a:srgbClr val="202020"/>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b="1" lang="pt-BR">
                <a:solidFill>
                  <a:srgbClr val="202020"/>
                </a:solidFill>
                <a:latin typeface="Poppins"/>
                <a:ea typeface="Poppins"/>
                <a:cs typeface="Poppins"/>
                <a:sym typeface="Poppins"/>
              </a:rPr>
              <a:t>Navegação: </a:t>
            </a:r>
            <a:r>
              <a:rPr lang="pt-BR">
                <a:solidFill>
                  <a:srgbClr val="202020"/>
                </a:solidFill>
                <a:latin typeface="Poppins"/>
                <a:ea typeface="Poppins"/>
                <a:cs typeface="Poppins"/>
                <a:sym typeface="Poppins"/>
              </a:rPr>
              <a:t>Logs do aplicativo em arquivos JSON brutos.</a:t>
            </a:r>
            <a:endParaRPr>
              <a:solidFill>
                <a:srgbClr val="202020"/>
              </a:solidFill>
              <a:latin typeface="Poppins"/>
              <a:ea typeface="Poppins"/>
              <a:cs typeface="Poppins"/>
              <a:sym typeface="Poppins"/>
            </a:endParaRPr>
          </a:p>
        </p:txBody>
      </p:sp>
      <p:sp>
        <p:nvSpPr>
          <p:cNvPr id="152" name="Google Shape;152;g3f5cfaf56cc_0_28"/>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Desafio: </a:t>
            </a:r>
            <a:r>
              <a:rPr b="0" lang="pt-BR" sz="2200">
                <a:solidFill>
                  <a:srgbClr val="B41B26"/>
                </a:solidFill>
              </a:rPr>
              <a:t>Análise de Dados Multicanal</a:t>
            </a:r>
            <a:endParaRPr b="0" sz="2200">
              <a:solidFill>
                <a:srgbClr val="B41B2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f5f0e60465_0_8"/>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Problema Investigado</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a:p>
            <a:pPr indent="0" lvl="0" marL="450000" marR="929359" rtl="0" algn="just">
              <a:lnSpc>
                <a:spcPct val="100000"/>
              </a:lnSpc>
              <a:spcBef>
                <a:spcPts val="0"/>
              </a:spcBef>
              <a:spcAft>
                <a:spcPts val="0"/>
              </a:spcAft>
              <a:buSzPts val="1600"/>
              <a:buNone/>
            </a:pPr>
            <a:r>
              <a:rPr b="1" i="1" lang="pt-BR">
                <a:solidFill>
                  <a:srgbClr val="202020"/>
                </a:solidFill>
                <a:latin typeface="Poppins"/>
                <a:ea typeface="Poppins"/>
                <a:cs typeface="Poppins"/>
                <a:sym typeface="Poppins"/>
              </a:rPr>
              <a:t>Uma grande empresa de varejo nacional gasta mais de R$ 500 mil/mês em servidores de banco de dados redundantes, tentando unificar vendas de ERP (SQL), navegação do app (JSON) e avaliações (Texto), mas falha em responder perguntas básicas da diretoria de forma ágil.</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rPr b="1" lang="pt-BR">
                <a:solidFill>
                  <a:srgbClr val="B41B26"/>
                </a:solidFill>
                <a:latin typeface="Poppins"/>
                <a:ea typeface="Poppins"/>
                <a:cs typeface="Poppins"/>
                <a:sym typeface="Poppins"/>
              </a:rPr>
              <a:t>Dilemas e Questões para Discussão Executiva:</a:t>
            </a:r>
            <a:endParaRPr b="1">
              <a:solidFill>
                <a:srgbClr val="B41B26"/>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a:solidFill>
                <a:srgbClr val="B41B26"/>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Se você fosse contratado como </a:t>
            </a:r>
            <a:r>
              <a:rPr b="1" i="1" lang="pt-BR">
                <a:solidFill>
                  <a:srgbClr val="202020"/>
                </a:solidFill>
                <a:latin typeface="Poppins"/>
                <a:ea typeface="Poppins"/>
                <a:cs typeface="Poppins"/>
                <a:sym typeface="Poppins"/>
              </a:rPr>
              <a:t>Head de Dados</a:t>
            </a:r>
            <a:r>
              <a:rPr lang="pt-BR">
                <a:solidFill>
                  <a:srgbClr val="202020"/>
                </a:solidFill>
                <a:latin typeface="Poppins"/>
                <a:ea typeface="Poppins"/>
                <a:cs typeface="Poppins"/>
                <a:sym typeface="Poppins"/>
              </a:rPr>
              <a:t> amanhã, qual seria sua primeira decisão sobre onde guardar os dados de navegação do app e as vendas do ERP?</a:t>
            </a:r>
            <a:endParaRPr>
              <a:solidFill>
                <a:srgbClr val="202020"/>
              </a:solidFill>
              <a:latin typeface="Poppins"/>
              <a:ea typeface="Poppins"/>
              <a:cs typeface="Poppins"/>
              <a:sym typeface="Poppins"/>
            </a:endParaRPr>
          </a:p>
        </p:txBody>
      </p:sp>
      <p:sp>
        <p:nvSpPr>
          <p:cNvPr id="158" name="Google Shape;158;g3f5f0e60465_0_8"/>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Desafio: </a:t>
            </a:r>
            <a:r>
              <a:rPr b="0" lang="pt-BR" sz="2200">
                <a:solidFill>
                  <a:srgbClr val="B41B26"/>
                </a:solidFill>
              </a:rPr>
              <a:t>Análise de Dados Multicanal</a:t>
            </a:r>
            <a:endParaRPr b="0" sz="2200">
              <a:solidFill>
                <a:srgbClr val="B41B2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f5f0e60465_0_13"/>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Problema Investigado</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a:p>
            <a:pPr indent="0" lvl="0" marL="450000" marR="929359" rtl="0" algn="just">
              <a:lnSpc>
                <a:spcPct val="100000"/>
              </a:lnSpc>
              <a:spcBef>
                <a:spcPts val="0"/>
              </a:spcBef>
              <a:spcAft>
                <a:spcPts val="0"/>
              </a:spcAft>
              <a:buSzPts val="1600"/>
              <a:buNone/>
            </a:pPr>
            <a:r>
              <a:rPr b="1" i="1" lang="pt-BR">
                <a:solidFill>
                  <a:srgbClr val="202020"/>
                </a:solidFill>
                <a:latin typeface="Poppins"/>
                <a:ea typeface="Poppins"/>
                <a:cs typeface="Poppins"/>
                <a:sym typeface="Poppins"/>
              </a:rPr>
              <a:t>Uma grande empresa de varejo nacional gasta mais de R$ 500 mil/mês em servidores de banco de dados redundantes, tentando unificar vendas de ERP (SQL), navegação do app (JSON) e avaliações (Texto), mas falha em responder perguntas básicas da diretoria de forma ágil.</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rPr b="1" lang="pt-BR">
                <a:solidFill>
                  <a:srgbClr val="B41B26"/>
                </a:solidFill>
                <a:latin typeface="Poppins"/>
                <a:ea typeface="Poppins"/>
                <a:cs typeface="Poppins"/>
                <a:sym typeface="Poppins"/>
              </a:rPr>
              <a:t>Dilemas e Questões para Discussão Executiva:</a:t>
            </a:r>
            <a:endParaRPr b="1">
              <a:solidFill>
                <a:srgbClr val="B41B26"/>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a:solidFill>
                <a:srgbClr val="B41B26"/>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Se você fosse contratado como </a:t>
            </a:r>
            <a:r>
              <a:rPr b="1" i="1" lang="pt-BR">
                <a:solidFill>
                  <a:srgbClr val="202020"/>
                </a:solidFill>
                <a:latin typeface="Poppins"/>
                <a:ea typeface="Poppins"/>
                <a:cs typeface="Poppins"/>
                <a:sym typeface="Poppins"/>
              </a:rPr>
              <a:t>Head de Dados</a:t>
            </a:r>
            <a:r>
              <a:rPr lang="pt-BR">
                <a:solidFill>
                  <a:srgbClr val="202020"/>
                </a:solidFill>
                <a:latin typeface="Poppins"/>
                <a:ea typeface="Poppins"/>
                <a:cs typeface="Poppins"/>
                <a:sym typeface="Poppins"/>
              </a:rPr>
              <a:t> amanhã, qual seria sua primeira decisão sobre onde guardar os dados de navegação do app e as vendas do ERP?</a:t>
            </a:r>
            <a:endParaRPr>
              <a:solidFill>
                <a:srgbClr val="202020"/>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Por que simplesmente não "jogamos tudo" dentro do banco de dados relacional existente no ERP?</a:t>
            </a:r>
            <a:endParaRPr>
              <a:solidFill>
                <a:srgbClr val="202020"/>
              </a:solidFill>
              <a:latin typeface="Poppins"/>
              <a:ea typeface="Poppins"/>
              <a:cs typeface="Poppins"/>
              <a:sym typeface="Poppins"/>
            </a:endParaRPr>
          </a:p>
        </p:txBody>
      </p:sp>
      <p:sp>
        <p:nvSpPr>
          <p:cNvPr id="164" name="Google Shape;164;g3f5f0e60465_0_13"/>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Desafio: </a:t>
            </a:r>
            <a:r>
              <a:rPr b="0" lang="pt-BR" sz="2200">
                <a:solidFill>
                  <a:srgbClr val="B41B26"/>
                </a:solidFill>
              </a:rPr>
              <a:t>Análise de Dados Multicanal</a:t>
            </a:r>
            <a:endParaRPr b="0" sz="2200">
              <a:solidFill>
                <a:srgbClr val="B41B2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f5f0e60465_0_18"/>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Problema Investigado</a:t>
            </a:r>
            <a:endParaRPr/>
          </a:p>
          <a:p>
            <a:pPr indent="0" lvl="0" marL="0" rtl="0" algn="l">
              <a:lnSpc>
                <a:spcPct val="100000"/>
              </a:lnSpc>
              <a:spcBef>
                <a:spcPts val="0"/>
              </a:spcBef>
              <a:spcAft>
                <a:spcPts val="0"/>
              </a:spcAft>
              <a:buSzPts val="1600"/>
              <a:buNone/>
            </a:pPr>
            <a:r>
              <a:t/>
            </a:r>
            <a:endParaRPr/>
          </a:p>
          <a:p>
            <a:pPr indent="0" lvl="0" marL="0" rtl="0" algn="l">
              <a:lnSpc>
                <a:spcPct val="100000"/>
              </a:lnSpc>
              <a:spcBef>
                <a:spcPts val="0"/>
              </a:spcBef>
              <a:spcAft>
                <a:spcPts val="0"/>
              </a:spcAft>
              <a:buSzPts val="1600"/>
              <a:buNone/>
            </a:pPr>
            <a:r>
              <a:t/>
            </a:r>
            <a:endParaRPr/>
          </a:p>
          <a:p>
            <a:pPr indent="0" lvl="0" marL="450000" marR="929359" rtl="0" algn="just">
              <a:lnSpc>
                <a:spcPct val="100000"/>
              </a:lnSpc>
              <a:spcBef>
                <a:spcPts val="0"/>
              </a:spcBef>
              <a:spcAft>
                <a:spcPts val="0"/>
              </a:spcAft>
              <a:buSzPts val="1600"/>
              <a:buNone/>
            </a:pPr>
            <a:r>
              <a:rPr b="1" i="1" lang="pt-BR">
                <a:solidFill>
                  <a:srgbClr val="202020"/>
                </a:solidFill>
                <a:latin typeface="Poppins"/>
                <a:ea typeface="Poppins"/>
                <a:cs typeface="Poppins"/>
                <a:sym typeface="Poppins"/>
              </a:rPr>
              <a:t>Uma grande empresa de varejo nacional gasta mais de R$ 500 mil/mês em servidores de banco de dados redundantes, tentando unificar vendas de ERP (SQL), navegação do app (JSON) e avaliações (Texto), mas falha em responder perguntas básicas da diretoria de forma ágil.</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rPr b="1" lang="pt-BR">
                <a:solidFill>
                  <a:srgbClr val="B41B26"/>
                </a:solidFill>
                <a:latin typeface="Poppins"/>
                <a:ea typeface="Poppins"/>
                <a:cs typeface="Poppins"/>
                <a:sym typeface="Poppins"/>
              </a:rPr>
              <a:t>Dilemas e Questões para Discussão Executiva:</a:t>
            </a:r>
            <a:endParaRPr b="1">
              <a:solidFill>
                <a:srgbClr val="B41B26"/>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a:solidFill>
                <a:srgbClr val="B41B26"/>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Se você fosse contratado como </a:t>
            </a:r>
            <a:r>
              <a:rPr b="1" i="1" lang="pt-BR">
                <a:solidFill>
                  <a:srgbClr val="202020"/>
                </a:solidFill>
                <a:latin typeface="Poppins"/>
                <a:ea typeface="Poppins"/>
                <a:cs typeface="Poppins"/>
                <a:sym typeface="Poppins"/>
              </a:rPr>
              <a:t>Head de Dados</a:t>
            </a:r>
            <a:r>
              <a:rPr lang="pt-BR">
                <a:solidFill>
                  <a:srgbClr val="202020"/>
                </a:solidFill>
                <a:latin typeface="Poppins"/>
                <a:ea typeface="Poppins"/>
                <a:cs typeface="Poppins"/>
                <a:sym typeface="Poppins"/>
              </a:rPr>
              <a:t> amanhã, qual seria sua primeira decisão sobre onde guardar os dados de navegação do app e as vendas do ERP?</a:t>
            </a:r>
            <a:endParaRPr>
              <a:solidFill>
                <a:srgbClr val="202020"/>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Por que simplesmente não "jogamos tudo" dentro do banco de dados relacional existente no ERP?</a:t>
            </a:r>
            <a:endParaRPr>
              <a:solidFill>
                <a:srgbClr val="202020"/>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O que acontece com a performance de um banco SQL tradicional quando tentamos salvar milhões de logs JSON em colunas de texto?</a:t>
            </a:r>
            <a:endParaRPr>
              <a:solidFill>
                <a:srgbClr val="202020"/>
              </a:solidFill>
              <a:latin typeface="Poppins"/>
              <a:ea typeface="Poppins"/>
              <a:cs typeface="Poppins"/>
              <a:sym typeface="Poppins"/>
            </a:endParaRPr>
          </a:p>
        </p:txBody>
      </p:sp>
      <p:sp>
        <p:nvSpPr>
          <p:cNvPr id="170" name="Google Shape;170;g3f5f0e60465_0_18"/>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Desafio: </a:t>
            </a:r>
            <a:r>
              <a:rPr b="0" lang="pt-BR" sz="2200">
                <a:solidFill>
                  <a:srgbClr val="B41B26"/>
                </a:solidFill>
              </a:rPr>
              <a:t>Análise de Dados Multicanal</a:t>
            </a:r>
            <a:endParaRPr b="0" sz="2200">
              <a:solidFill>
                <a:srgbClr val="B41B2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f5f0e60465_0_23"/>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202020"/>
                </a:solidFill>
                <a:latin typeface="Poppins"/>
                <a:ea typeface="Poppins"/>
                <a:cs typeface="Poppins"/>
                <a:sym typeface="Poppins"/>
              </a:rPr>
              <a:t>Dados Estruturados: </a:t>
            </a:r>
            <a:r>
              <a:rPr lang="pt-BR" sz="2000">
                <a:solidFill>
                  <a:srgbClr val="202020"/>
                </a:solidFill>
                <a:latin typeface="Poppins"/>
                <a:ea typeface="Poppins"/>
                <a:cs typeface="Poppins"/>
                <a:sym typeface="Poppins"/>
              </a:rPr>
              <a:t>Possuem alto nível de organização técnica e previsibilidade.</a:t>
            </a:r>
            <a:endParaRPr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Características Principais: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Esquema Fixo (</a:t>
            </a:r>
            <a:r>
              <a:rPr b="1" i="1" lang="pt-BR">
                <a:solidFill>
                  <a:srgbClr val="B41B26"/>
                </a:solidFill>
                <a:latin typeface="Poppins"/>
                <a:ea typeface="Poppins"/>
                <a:cs typeface="Poppins"/>
                <a:sym typeface="Poppins"/>
              </a:rPr>
              <a:t>Schema-on-Write</a:t>
            </a:r>
            <a:r>
              <a:rPr b="1" lang="pt-BR">
                <a:solidFill>
                  <a:srgbClr val="B41B26"/>
                </a:solidFill>
                <a:latin typeface="Poppins"/>
                <a:ea typeface="Poppins"/>
                <a:cs typeface="Poppins"/>
                <a:sym typeface="Poppins"/>
              </a:rPr>
              <a:t>):</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A estrutura (colunas e tipos) é definida antes da inserção dos dados.</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Tipagem Forte:</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Cada coluna tem um tipo de dado estrito (</a:t>
            </a:r>
            <a:r>
              <a:rPr i="1" lang="pt-BR">
                <a:solidFill>
                  <a:srgbClr val="202020"/>
                </a:solidFill>
                <a:latin typeface="Poppins"/>
                <a:ea typeface="Poppins"/>
                <a:cs typeface="Poppins"/>
                <a:sym typeface="Poppins"/>
              </a:rPr>
              <a:t>INT, VARCHAR, DATE</a:t>
            </a:r>
            <a:r>
              <a:rPr lang="pt-BR">
                <a:solidFill>
                  <a:srgbClr val="202020"/>
                </a:solidFill>
                <a:latin typeface="Poppins"/>
                <a:ea typeface="Poppins"/>
                <a:cs typeface="Poppins"/>
                <a:sym typeface="Poppins"/>
              </a:rPr>
              <a:t>).</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Armazenamento: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Tabelas relacionais com linhas e colunas (SGBDs como PostgreSQL, SQL Server, Oracle).</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Propósito:</a:t>
            </a:r>
            <a:r>
              <a:rPr lang="pt-BR">
                <a:solidFill>
                  <a:srgbClr val="202020"/>
                </a:solidFill>
                <a:latin typeface="Poppins"/>
                <a:ea typeface="Poppins"/>
                <a:cs typeface="Poppins"/>
                <a:sym typeface="Poppins"/>
              </a:rPr>
              <a:t> Sistemas transacionais operacionais urgentes (ERP, Finanças, RH) onde a consistência absoluta (</a:t>
            </a:r>
            <a:r>
              <a:rPr i="1" lang="pt-BR">
                <a:solidFill>
                  <a:srgbClr val="B41B26"/>
                </a:solidFill>
                <a:latin typeface="Poppins"/>
                <a:ea typeface="Poppins"/>
                <a:cs typeface="Poppins"/>
                <a:sym typeface="Poppins"/>
              </a:rPr>
              <a:t>ACID</a:t>
            </a:r>
            <a:r>
              <a:rPr lang="pt-BR">
                <a:solidFill>
                  <a:srgbClr val="202020"/>
                </a:solidFill>
                <a:latin typeface="Poppins"/>
                <a:ea typeface="Poppins"/>
                <a:cs typeface="Poppins"/>
                <a:sym typeface="Poppins"/>
              </a:rPr>
              <a:t>) é mandatória.</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Insight Executivo: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A principal vantagem do dado estruturado é a velocidade para análises diretas, mas sua rigidez o torna um péssimo candidato para armazenar comportamentos voláteis de usuários.</a:t>
            </a:r>
            <a:endParaRPr>
              <a:solidFill>
                <a:srgbClr val="202020"/>
              </a:solidFill>
              <a:latin typeface="Poppins"/>
              <a:ea typeface="Poppins"/>
              <a:cs typeface="Poppins"/>
              <a:sym typeface="Poppins"/>
            </a:endParaRPr>
          </a:p>
        </p:txBody>
      </p:sp>
      <p:sp>
        <p:nvSpPr>
          <p:cNvPr id="176" name="Google Shape;176;g3f5f0e60465_0_23"/>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Fundamentos: </a:t>
            </a:r>
            <a:r>
              <a:rPr b="0" lang="pt-BR" sz="2200">
                <a:solidFill>
                  <a:srgbClr val="B41B26"/>
                </a:solidFill>
              </a:rPr>
              <a:t>O que são Dados Estruturados?</a:t>
            </a:r>
            <a:endParaRPr b="0" sz="2200">
              <a:solidFill>
                <a:srgbClr val="B41B2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f5f0e60465_0_28"/>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202020"/>
                </a:solidFill>
                <a:latin typeface="Poppins"/>
                <a:ea typeface="Poppins"/>
                <a:cs typeface="Poppins"/>
                <a:sym typeface="Poppins"/>
              </a:rPr>
              <a:t>Dados Estruturados: </a:t>
            </a:r>
            <a:r>
              <a:rPr lang="pt-BR" sz="2000">
                <a:solidFill>
                  <a:srgbClr val="202020"/>
                </a:solidFill>
                <a:latin typeface="Poppins"/>
                <a:ea typeface="Poppins"/>
                <a:cs typeface="Poppins"/>
                <a:sym typeface="Poppins"/>
              </a:rPr>
              <a:t>Possuem alto nível de organização técnica e previsibilidade.</a:t>
            </a:r>
            <a:endParaRPr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Características Principais: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Esquema Fixo (Schema-on-Write):</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A estrutura (colunas e tipos) é definida antes da inserção dos dados.</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Tipagem Forte:</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Cada coluna tem um tipo de dado estrito (INT, VARCHAR, DATE).</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Armazenamento: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Tabelas relacionais com linhas e colunas (SGBDs como PostgreSQL, SQL Server, Oracle).</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Propósito:</a:t>
            </a:r>
            <a:r>
              <a:rPr lang="pt-BR">
                <a:solidFill>
                  <a:srgbClr val="202020"/>
                </a:solidFill>
                <a:latin typeface="Poppins"/>
                <a:ea typeface="Poppins"/>
                <a:cs typeface="Poppins"/>
                <a:sym typeface="Poppins"/>
              </a:rPr>
              <a:t> Sistemas transacionais operacionais urgentes (ERP, Finanças, RH) onde a consistência absoluta (</a:t>
            </a:r>
            <a:r>
              <a:rPr lang="pt-BR">
                <a:solidFill>
                  <a:srgbClr val="B41B26"/>
                </a:solidFill>
                <a:latin typeface="Poppins"/>
                <a:ea typeface="Poppins"/>
                <a:cs typeface="Poppins"/>
                <a:sym typeface="Poppins"/>
              </a:rPr>
              <a:t>ACID</a:t>
            </a:r>
            <a:r>
              <a:rPr lang="pt-BR">
                <a:solidFill>
                  <a:srgbClr val="202020"/>
                </a:solidFill>
                <a:latin typeface="Poppins"/>
                <a:ea typeface="Poppins"/>
                <a:cs typeface="Poppins"/>
                <a:sym typeface="Poppins"/>
              </a:rPr>
              <a:t>) é mandatória.</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Insight Executivo: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A principal vantagem do dado estruturado é a velocidade para análises diretas, mas sua rigidez o torna um péssimo candidato para armazenar comportamentos voláteis de usuários.</a:t>
            </a:r>
            <a:endParaRPr>
              <a:solidFill>
                <a:srgbClr val="202020"/>
              </a:solidFill>
              <a:latin typeface="Poppins"/>
              <a:ea typeface="Poppins"/>
              <a:cs typeface="Poppins"/>
              <a:sym typeface="Poppins"/>
            </a:endParaRPr>
          </a:p>
        </p:txBody>
      </p:sp>
      <p:sp>
        <p:nvSpPr>
          <p:cNvPr id="182" name="Google Shape;182;g3f5f0e60465_0_28"/>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Fundamentos: </a:t>
            </a:r>
            <a:r>
              <a:rPr b="0" lang="pt-BR" sz="2200">
                <a:solidFill>
                  <a:srgbClr val="B41B26"/>
                </a:solidFill>
              </a:rPr>
              <a:t>O que são Dados Estruturados?</a:t>
            </a:r>
            <a:endParaRPr b="0" sz="2200">
              <a:solidFill>
                <a:srgbClr val="B41B26"/>
              </a:solidFill>
            </a:endParaRPr>
          </a:p>
        </p:txBody>
      </p:sp>
      <p:pic>
        <p:nvPicPr>
          <p:cNvPr id="183" name="Google Shape;183;g3f5f0e60465_0_28"/>
          <p:cNvPicPr preferRelativeResize="0"/>
          <p:nvPr/>
        </p:nvPicPr>
        <p:blipFill>
          <a:blip r:embed="rId3">
            <a:alphaModFix/>
          </a:blip>
          <a:stretch>
            <a:fillRect/>
          </a:stretch>
        </p:blipFill>
        <p:spPr>
          <a:xfrm>
            <a:off x="969025" y="2321275"/>
            <a:ext cx="10152350" cy="3589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f5f0e60465_0_34"/>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202020"/>
                </a:solidFill>
                <a:latin typeface="Poppins"/>
                <a:ea typeface="Poppins"/>
                <a:cs typeface="Poppins"/>
                <a:sym typeface="Poppins"/>
              </a:rPr>
              <a:t>Dados Estruturados: </a:t>
            </a:r>
            <a:r>
              <a:rPr lang="pt-BR" sz="2000">
                <a:solidFill>
                  <a:srgbClr val="202020"/>
                </a:solidFill>
                <a:latin typeface="Poppins"/>
                <a:ea typeface="Poppins"/>
                <a:cs typeface="Poppins"/>
                <a:sym typeface="Poppins"/>
              </a:rPr>
              <a:t>Possuem alto nível de organização técnica e previsibilidade.</a:t>
            </a:r>
            <a:endParaRPr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Características Principais: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Esquema Fixo (</a:t>
            </a:r>
            <a:r>
              <a:rPr b="1" i="1" lang="pt-BR">
                <a:solidFill>
                  <a:srgbClr val="B41B26"/>
                </a:solidFill>
                <a:latin typeface="Poppins"/>
                <a:ea typeface="Poppins"/>
                <a:cs typeface="Poppins"/>
                <a:sym typeface="Poppins"/>
              </a:rPr>
              <a:t>Schema-on-Write</a:t>
            </a:r>
            <a:r>
              <a:rPr b="1" lang="pt-BR">
                <a:solidFill>
                  <a:srgbClr val="B41B26"/>
                </a:solidFill>
                <a:latin typeface="Poppins"/>
                <a:ea typeface="Poppins"/>
                <a:cs typeface="Poppins"/>
                <a:sym typeface="Poppins"/>
              </a:rPr>
              <a:t>):</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A estrutura (colunas e tipos) é definida antes da inserção dos dados.</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Tipagem Forte:</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Cada coluna tem um tipo de dado estrito (</a:t>
            </a:r>
            <a:r>
              <a:rPr i="1" lang="pt-BR">
                <a:solidFill>
                  <a:srgbClr val="202020"/>
                </a:solidFill>
                <a:latin typeface="Poppins"/>
                <a:ea typeface="Poppins"/>
                <a:cs typeface="Poppins"/>
                <a:sym typeface="Poppins"/>
              </a:rPr>
              <a:t>INT, VARCHAR, DATE</a:t>
            </a:r>
            <a:r>
              <a:rPr lang="pt-BR">
                <a:solidFill>
                  <a:srgbClr val="202020"/>
                </a:solidFill>
                <a:latin typeface="Poppins"/>
                <a:ea typeface="Poppins"/>
                <a:cs typeface="Poppins"/>
                <a:sym typeface="Poppins"/>
              </a:rPr>
              <a:t>).</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Armazenamento: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Tabelas relacionais com linhas e colunas (SGBDs como PostgreSQL, SQL Server, Oracle).</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Propósito:</a:t>
            </a:r>
            <a:r>
              <a:rPr lang="pt-BR">
                <a:solidFill>
                  <a:srgbClr val="202020"/>
                </a:solidFill>
                <a:latin typeface="Poppins"/>
                <a:ea typeface="Poppins"/>
                <a:cs typeface="Poppins"/>
                <a:sym typeface="Poppins"/>
              </a:rPr>
              <a:t> Sistemas transacionais operacionais urgentes (ERP, Finanças, RH) onde a consistência absoluta (</a:t>
            </a:r>
            <a:r>
              <a:rPr i="1" lang="pt-BR">
                <a:solidFill>
                  <a:srgbClr val="B41B26"/>
                </a:solidFill>
                <a:latin typeface="Poppins"/>
                <a:ea typeface="Poppins"/>
                <a:cs typeface="Poppins"/>
                <a:sym typeface="Poppins"/>
              </a:rPr>
              <a:t>ACID</a:t>
            </a:r>
            <a:r>
              <a:rPr lang="pt-BR">
                <a:solidFill>
                  <a:srgbClr val="202020"/>
                </a:solidFill>
                <a:latin typeface="Poppins"/>
                <a:ea typeface="Poppins"/>
                <a:cs typeface="Poppins"/>
                <a:sym typeface="Poppins"/>
              </a:rPr>
              <a:t>) é mandatória.</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Insight Executivo: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A principal vantagem do dado estruturado é a velocidade para análises diretas, mas sua rigidez o torna um péssimo candidato para armazenar comportamentos voláteis de usuários.</a:t>
            </a:r>
            <a:endParaRPr>
              <a:solidFill>
                <a:srgbClr val="202020"/>
              </a:solidFill>
              <a:latin typeface="Poppins"/>
              <a:ea typeface="Poppins"/>
              <a:cs typeface="Poppins"/>
              <a:sym typeface="Poppins"/>
            </a:endParaRPr>
          </a:p>
        </p:txBody>
      </p:sp>
      <p:sp>
        <p:nvSpPr>
          <p:cNvPr id="189" name="Google Shape;189;g3f5f0e60465_0_34"/>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Fundamentos: </a:t>
            </a:r>
            <a:r>
              <a:rPr b="0" lang="pt-BR" sz="2200">
                <a:solidFill>
                  <a:srgbClr val="B41B26"/>
                </a:solidFill>
              </a:rPr>
              <a:t>O que são Dados Estruturados?</a:t>
            </a:r>
            <a:endParaRPr b="0" sz="2200">
              <a:solidFill>
                <a:srgbClr val="B41B2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f5f0e60465_0_39"/>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202020"/>
                </a:solidFill>
                <a:latin typeface="Poppins"/>
                <a:ea typeface="Poppins"/>
                <a:cs typeface="Poppins"/>
                <a:sym typeface="Poppins"/>
              </a:rPr>
              <a:t>Como funciona a Validação na Escrita?</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a:solidFill>
                  <a:srgbClr val="202020"/>
                </a:solidFill>
                <a:latin typeface="Poppins"/>
                <a:ea typeface="Poppins"/>
                <a:cs typeface="Poppins"/>
                <a:sym typeface="Poppins"/>
              </a:rPr>
              <a:t>Benefício e Gargalo: </a:t>
            </a:r>
            <a:endParaRPr>
              <a:solidFill>
                <a:srgbClr val="202020"/>
              </a:solidFill>
              <a:latin typeface="Poppins"/>
              <a:ea typeface="Poppins"/>
              <a:cs typeface="Poppins"/>
              <a:sym typeface="Poppins"/>
            </a:endParaRPr>
          </a:p>
        </p:txBody>
      </p:sp>
      <p:sp>
        <p:nvSpPr>
          <p:cNvPr id="195" name="Google Shape;195;g3f5f0e60465_0_39"/>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O Paradigma do </a:t>
            </a:r>
            <a:r>
              <a:rPr i="1" lang="pt-BR" sz="2200">
                <a:solidFill>
                  <a:srgbClr val="B41B26"/>
                </a:solidFill>
              </a:rPr>
              <a:t>Schema-on-Write</a:t>
            </a:r>
            <a:endParaRPr b="0" i="1" sz="2200">
              <a:solidFill>
                <a:srgbClr val="B41B26"/>
              </a:solidFill>
            </a:endParaRPr>
          </a:p>
        </p:txBody>
      </p:sp>
      <p:pic>
        <p:nvPicPr>
          <p:cNvPr id="196" name="Google Shape;196;g3f5f0e60465_0_39"/>
          <p:cNvPicPr preferRelativeResize="0"/>
          <p:nvPr/>
        </p:nvPicPr>
        <p:blipFill>
          <a:blip r:embed="rId3">
            <a:alphaModFix/>
          </a:blip>
          <a:stretch>
            <a:fillRect/>
          </a:stretch>
        </p:blipFill>
        <p:spPr>
          <a:xfrm>
            <a:off x="2150837" y="1908601"/>
            <a:ext cx="7928476" cy="3179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f5f0e60465_0_45"/>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202020"/>
                </a:solidFill>
                <a:latin typeface="Poppins"/>
                <a:ea typeface="Poppins"/>
                <a:cs typeface="Poppins"/>
                <a:sym typeface="Poppins"/>
              </a:rPr>
              <a:t>Como funciona a Validação na Escrita?</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a:solidFill>
                  <a:srgbClr val="202020"/>
                </a:solidFill>
                <a:latin typeface="Poppins"/>
                <a:ea typeface="Poppins"/>
                <a:cs typeface="Poppins"/>
                <a:sym typeface="Poppins"/>
              </a:rPr>
              <a:t>Benefício e Gargalo: </a:t>
            </a:r>
            <a:r>
              <a:rPr lang="pt-BR">
                <a:solidFill>
                  <a:srgbClr val="202020"/>
                </a:solidFill>
                <a:latin typeface="Poppins"/>
                <a:ea typeface="Poppins"/>
                <a:cs typeface="Poppins"/>
                <a:sym typeface="Poppins"/>
              </a:rPr>
              <a:t>O sistema garante a qualidade do dado no momento em que ele entra no ecossistema, mas impede a agilidade quando a área de negócios precisa coletar um novo atributo de forma rápida (ex: um novo campo de cupom no site).</a:t>
            </a:r>
            <a:endParaRPr>
              <a:solidFill>
                <a:srgbClr val="202020"/>
              </a:solidFill>
              <a:latin typeface="Poppins"/>
              <a:ea typeface="Poppins"/>
              <a:cs typeface="Poppins"/>
              <a:sym typeface="Poppins"/>
            </a:endParaRPr>
          </a:p>
        </p:txBody>
      </p:sp>
      <p:sp>
        <p:nvSpPr>
          <p:cNvPr id="202" name="Google Shape;202;g3f5f0e60465_0_45"/>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O Paradigma do </a:t>
            </a:r>
            <a:r>
              <a:rPr i="1" lang="pt-BR" sz="2200">
                <a:solidFill>
                  <a:srgbClr val="B41B26"/>
                </a:solidFill>
              </a:rPr>
              <a:t>Schema-on-Write</a:t>
            </a:r>
            <a:endParaRPr b="0" i="1" sz="2200">
              <a:solidFill>
                <a:srgbClr val="B41B26"/>
              </a:solidFill>
            </a:endParaRPr>
          </a:p>
        </p:txBody>
      </p:sp>
      <p:pic>
        <p:nvPicPr>
          <p:cNvPr id="203" name="Google Shape;203;g3f5f0e60465_0_45"/>
          <p:cNvPicPr preferRelativeResize="0"/>
          <p:nvPr/>
        </p:nvPicPr>
        <p:blipFill>
          <a:blip r:embed="rId3">
            <a:alphaModFix/>
          </a:blip>
          <a:stretch>
            <a:fillRect/>
          </a:stretch>
        </p:blipFill>
        <p:spPr>
          <a:xfrm>
            <a:off x="2150837" y="1908601"/>
            <a:ext cx="7928476" cy="3179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f5f0e60465_0_56"/>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a:solidFill>
                  <a:srgbClr val="202020"/>
                </a:solidFill>
                <a:latin typeface="Poppins"/>
                <a:ea typeface="Poppins"/>
                <a:cs typeface="Poppins"/>
                <a:sym typeface="Poppins"/>
              </a:rPr>
              <a:t>Dados Semi-estruturados: </a:t>
            </a:r>
            <a:r>
              <a:rPr lang="pt-BR">
                <a:solidFill>
                  <a:srgbClr val="202020"/>
                </a:solidFill>
                <a:latin typeface="Poppins"/>
                <a:ea typeface="Poppins"/>
                <a:cs typeface="Poppins"/>
                <a:sym typeface="Poppins"/>
              </a:rPr>
              <a:t>Dados que não residem em um banco relacional, mas possuem marcações organizacionais (</a:t>
            </a:r>
            <a:r>
              <a:rPr i="1" lang="pt-BR">
                <a:solidFill>
                  <a:srgbClr val="202020"/>
                </a:solidFill>
                <a:latin typeface="Poppins"/>
                <a:ea typeface="Poppins"/>
                <a:cs typeface="Poppins"/>
                <a:sym typeface="Poppins"/>
              </a:rPr>
              <a:t>tags</a:t>
            </a:r>
            <a:r>
              <a:rPr lang="pt-BR">
                <a:solidFill>
                  <a:srgbClr val="202020"/>
                </a:solidFill>
                <a:latin typeface="Poppins"/>
                <a:ea typeface="Poppins"/>
                <a:cs typeface="Poppins"/>
                <a:sym typeface="Poppins"/>
              </a:rPr>
              <a:t> ou chaves) que separam os elementos semânticos.</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Características Principais: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Esquema Flexível (Auto-descritivo):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O próprio dado contém as informações de sua estrutura (chaves).</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Hierarquias Aninhadas:</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Podem representar complexidade relacional de 1:N no mesmo registro.</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Formatos Comuns:</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JSON, XML, YAML.</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Propósito:</a:t>
            </a:r>
            <a:r>
              <a:rPr lang="pt-BR">
                <a:solidFill>
                  <a:srgbClr val="202020"/>
                </a:solidFill>
                <a:latin typeface="Poppins"/>
                <a:ea typeface="Poppins"/>
                <a:cs typeface="Poppins"/>
                <a:sym typeface="Poppins"/>
              </a:rPr>
              <a:t> Troca de mensagens entre APIs, logs de aplicativos Web/Mobile, configurações.</a:t>
            </a:r>
            <a:endParaRPr i="1" sz="1400">
              <a:solidFill>
                <a:srgbClr val="B41B26"/>
              </a:solidFill>
              <a:latin typeface="Poppins"/>
              <a:ea typeface="Poppins"/>
              <a:cs typeface="Poppins"/>
              <a:sym typeface="Poppins"/>
            </a:endParaRPr>
          </a:p>
        </p:txBody>
      </p:sp>
      <p:sp>
        <p:nvSpPr>
          <p:cNvPr id="209" name="Google Shape;209;g3f5f0e60465_0_56"/>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Fundamentos: </a:t>
            </a:r>
            <a:r>
              <a:rPr b="0" lang="pt-BR" sz="2200">
                <a:solidFill>
                  <a:srgbClr val="B41B26"/>
                </a:solidFill>
              </a:rPr>
              <a:t>O que são Dados Semi-estruturados?</a:t>
            </a:r>
            <a:endParaRPr b="0" sz="2200">
              <a:solidFill>
                <a:srgbClr val="B41B2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f5f0e60465_0_51"/>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a:solidFill>
                  <a:srgbClr val="202020"/>
                </a:solidFill>
                <a:latin typeface="Poppins"/>
                <a:ea typeface="Poppins"/>
                <a:cs typeface="Poppins"/>
                <a:sym typeface="Poppins"/>
              </a:rPr>
              <a:t>Dados Semi-estruturados: </a:t>
            </a:r>
            <a:r>
              <a:rPr lang="pt-BR">
                <a:solidFill>
                  <a:srgbClr val="202020"/>
                </a:solidFill>
                <a:latin typeface="Poppins"/>
                <a:ea typeface="Poppins"/>
                <a:cs typeface="Poppins"/>
                <a:sym typeface="Poppins"/>
              </a:rPr>
              <a:t>Dados que não residem em um banco relacional, mas possuem marcações organizacionais (</a:t>
            </a:r>
            <a:r>
              <a:rPr i="1" lang="pt-BR">
                <a:solidFill>
                  <a:srgbClr val="202020"/>
                </a:solidFill>
                <a:latin typeface="Poppins"/>
                <a:ea typeface="Poppins"/>
                <a:cs typeface="Poppins"/>
                <a:sym typeface="Poppins"/>
              </a:rPr>
              <a:t>tags</a:t>
            </a:r>
            <a:r>
              <a:rPr lang="pt-BR">
                <a:solidFill>
                  <a:srgbClr val="202020"/>
                </a:solidFill>
                <a:latin typeface="Poppins"/>
                <a:ea typeface="Poppins"/>
                <a:cs typeface="Poppins"/>
                <a:sym typeface="Poppins"/>
              </a:rPr>
              <a:t> ou chaves) que separam os elementos semânticos.</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Características Principais: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Esquema Flexível (Auto-descritivo):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O próprio dado contém as informações de sua estrutura (chaves).</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Hierarquias Aninhadas:</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Podem representar complexidade relacional de 1:N no mesmo registro.</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Formatos Comuns</a:t>
            </a:r>
            <a:r>
              <a:rPr b="1" lang="pt-BR">
                <a:solidFill>
                  <a:srgbClr val="B41B26"/>
                </a:solidFill>
                <a:latin typeface="Poppins"/>
                <a:ea typeface="Poppins"/>
                <a:cs typeface="Poppins"/>
                <a:sym typeface="Poppins"/>
              </a:rPr>
              <a:t>:</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JSON, XML, YAML.</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Propósito:</a:t>
            </a:r>
            <a:r>
              <a:rPr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Troca de mensagens entre APIs, logs de aplicativos Web/Mobile, configurações.</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b="1">
              <a:solidFill>
                <a:srgbClr val="B41B26"/>
              </a:solidFill>
              <a:latin typeface="Poppins"/>
              <a:ea typeface="Poppins"/>
              <a:cs typeface="Poppins"/>
              <a:sym typeface="Poppins"/>
            </a:endParaRPr>
          </a:p>
          <a:p>
            <a:pPr indent="0" lvl="0" marL="0" rtl="0" algn="l">
              <a:lnSpc>
                <a:spcPct val="100000"/>
              </a:lnSpc>
              <a:spcBef>
                <a:spcPts val="0"/>
              </a:spcBef>
              <a:spcAft>
                <a:spcPts val="0"/>
              </a:spcAft>
              <a:buNone/>
            </a:pPr>
            <a:r>
              <a:rPr i="1" lang="pt-BR" sz="1400">
                <a:solidFill>
                  <a:srgbClr val="B41B26"/>
                </a:solidFill>
                <a:latin typeface="Poppins"/>
                <a:ea typeface="Poppins"/>
                <a:cs typeface="Poppins"/>
                <a:sym typeface="Poppins"/>
              </a:rPr>
              <a:t>Como garantir que os cientistas de dados possam acessar os eventos de clique do aplicativo móvel sem depender de migrações lentas da equipe de engenharia para criar novas colunas no banco SQL?</a:t>
            </a:r>
            <a:endParaRPr i="1" sz="1400">
              <a:solidFill>
                <a:srgbClr val="B41B26"/>
              </a:solidFill>
              <a:latin typeface="Poppins"/>
              <a:ea typeface="Poppins"/>
              <a:cs typeface="Poppins"/>
              <a:sym typeface="Poppins"/>
            </a:endParaRPr>
          </a:p>
        </p:txBody>
      </p:sp>
      <p:sp>
        <p:nvSpPr>
          <p:cNvPr id="215" name="Google Shape;215;g3f5f0e60465_0_51"/>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Fundamentos: </a:t>
            </a:r>
            <a:r>
              <a:rPr b="0" lang="pt-BR" sz="2200">
                <a:solidFill>
                  <a:srgbClr val="B41B26"/>
                </a:solidFill>
              </a:rPr>
              <a:t>O que são Dados Semi-estruturados?</a:t>
            </a:r>
            <a:endParaRPr b="0" sz="2200">
              <a:solidFill>
                <a:srgbClr val="B41B2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f5f0e60465_0_68"/>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202020"/>
                </a:solidFill>
                <a:latin typeface="Poppins"/>
                <a:ea typeface="Poppins"/>
                <a:cs typeface="Poppins"/>
                <a:sym typeface="Poppins"/>
              </a:rPr>
              <a:t>O Custo da Decisão Arquitetural Errada:</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lang="pt-BR">
                <a:solidFill>
                  <a:srgbClr val="202020"/>
                </a:solidFill>
                <a:latin typeface="Poppins"/>
                <a:ea typeface="Poppins"/>
                <a:cs typeface="Poppins"/>
                <a:sym typeface="Poppins"/>
              </a:rPr>
              <a:t>O que acontece quando o time de engenharia insiste em colocar logs de clique do app (JSON) no banco do ERP?</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a:solidFill>
                  <a:srgbClr val="202020"/>
                </a:solidFill>
                <a:latin typeface="Poppins"/>
                <a:ea typeface="Poppins"/>
                <a:cs typeface="Poppins"/>
                <a:sym typeface="Poppins"/>
              </a:rPr>
              <a:t>Por que isso custa R$ 500 mil/mês? </a:t>
            </a:r>
            <a:endParaRPr b="1">
              <a:solidFill>
                <a:srgbClr val="202020"/>
              </a:solidFill>
              <a:latin typeface="Poppins"/>
              <a:ea typeface="Poppins"/>
              <a:cs typeface="Poppins"/>
              <a:sym typeface="Poppins"/>
            </a:endParaRPr>
          </a:p>
        </p:txBody>
      </p:sp>
      <p:sp>
        <p:nvSpPr>
          <p:cNvPr id="221" name="Google Shape;221;g3f5f0e60465_0_68"/>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O Dilema de Modelagem do JSON no SQL</a:t>
            </a:r>
            <a:endParaRPr b="0" i="1" sz="2200">
              <a:solidFill>
                <a:srgbClr val="B41B26"/>
              </a:solidFill>
            </a:endParaRPr>
          </a:p>
        </p:txBody>
      </p:sp>
      <p:pic>
        <p:nvPicPr>
          <p:cNvPr id="222" name="Google Shape;222;g3f5f0e60465_0_68"/>
          <p:cNvPicPr preferRelativeResize="0"/>
          <p:nvPr/>
        </p:nvPicPr>
        <p:blipFill>
          <a:blip r:embed="rId3">
            <a:alphaModFix/>
          </a:blip>
          <a:stretch>
            <a:fillRect/>
          </a:stretch>
        </p:blipFill>
        <p:spPr>
          <a:xfrm>
            <a:off x="1032110" y="2696425"/>
            <a:ext cx="9960075" cy="2390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f5f0e60465_0_61"/>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202020"/>
                </a:solidFill>
                <a:latin typeface="Poppins"/>
                <a:ea typeface="Poppins"/>
                <a:cs typeface="Poppins"/>
                <a:sym typeface="Poppins"/>
              </a:rPr>
              <a:t>O Custo da Decisão Arquitetural Errada:</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lang="pt-BR">
                <a:solidFill>
                  <a:srgbClr val="202020"/>
                </a:solidFill>
                <a:latin typeface="Poppins"/>
                <a:ea typeface="Poppins"/>
                <a:cs typeface="Poppins"/>
                <a:sym typeface="Poppins"/>
              </a:rPr>
              <a:t>O que acontece quando o time de engenharia insiste em colocar logs de clique do app (JSON) no banco do ERP?</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a:solidFill>
                  <a:srgbClr val="202020"/>
                </a:solidFill>
                <a:latin typeface="Poppins"/>
                <a:ea typeface="Poppins"/>
                <a:cs typeface="Poppins"/>
                <a:sym typeface="Poppins"/>
              </a:rPr>
              <a:t>Por que isso custa R$ 500 mil/mês? </a:t>
            </a:r>
            <a:endParaRPr b="1">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lang="pt-BR" sz="1400">
                <a:solidFill>
                  <a:srgbClr val="202020"/>
                </a:solidFill>
                <a:latin typeface="Poppins"/>
                <a:ea typeface="Poppins"/>
                <a:cs typeface="Poppins"/>
                <a:sym typeface="Poppins"/>
              </a:rPr>
              <a:t>O banco relacional gastará um processamento computacional imenso (CPU) e muita leitura de disco (I/O) toda vez que alguém fizer uma query buscando dentro dessa string gigante para extrair uma informação simples, além das licenças do software de banco de dados por core de CPU.</a:t>
            </a:r>
            <a:endParaRPr sz="14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a:solidFill>
                <a:srgbClr val="202020"/>
              </a:solidFill>
              <a:latin typeface="Poppins"/>
              <a:ea typeface="Poppins"/>
              <a:cs typeface="Poppins"/>
              <a:sym typeface="Poppins"/>
            </a:endParaRPr>
          </a:p>
        </p:txBody>
      </p:sp>
      <p:sp>
        <p:nvSpPr>
          <p:cNvPr id="228" name="Google Shape;228;g3f5f0e60465_0_61"/>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O Dilema de Modelagem do JSON no SQL</a:t>
            </a:r>
            <a:endParaRPr b="0" i="1" sz="2200">
              <a:solidFill>
                <a:srgbClr val="B41B26"/>
              </a:solidFill>
            </a:endParaRPr>
          </a:p>
        </p:txBody>
      </p:sp>
      <p:pic>
        <p:nvPicPr>
          <p:cNvPr id="229" name="Google Shape;229;g3f5f0e60465_0_61"/>
          <p:cNvPicPr preferRelativeResize="0"/>
          <p:nvPr/>
        </p:nvPicPr>
        <p:blipFill>
          <a:blip r:embed="rId3">
            <a:alphaModFix/>
          </a:blip>
          <a:stretch>
            <a:fillRect/>
          </a:stretch>
        </p:blipFill>
        <p:spPr>
          <a:xfrm>
            <a:off x="1032110" y="2696425"/>
            <a:ext cx="9960075" cy="2390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f5f0e60465_0_80"/>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a:solidFill>
                  <a:srgbClr val="202020"/>
                </a:solidFill>
                <a:latin typeface="Poppins"/>
                <a:ea typeface="Poppins"/>
                <a:cs typeface="Poppins"/>
                <a:sym typeface="Poppins"/>
              </a:rPr>
              <a:t>Dados Não Estruturados: </a:t>
            </a:r>
            <a:r>
              <a:rPr lang="pt-BR">
                <a:solidFill>
                  <a:srgbClr val="202020"/>
                </a:solidFill>
                <a:latin typeface="Poppins"/>
                <a:ea typeface="Poppins"/>
                <a:cs typeface="Poppins"/>
                <a:sym typeface="Poppins"/>
              </a:rPr>
              <a:t>Dados que não possuem um modelo de dados pré-definido ou não estão organizados de maneira pré-definida.</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Características Principais: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Sem Esquema Prévio: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Dependem de interpretação pesada (processamento de linguagem natural, visão computacional) para extrair valor de negócio.</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Mídia Binária e Textos Livres:</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Imagens, vídeos, áudios, PDFs, textos longos, e-mails, reviews de produtos.</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Volume Extremo:</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Representam cerca de 80% a 90% dos dados gerados por empresas atualmente.</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Armazenamento</a:t>
            </a:r>
            <a:r>
              <a:rPr b="1" lang="pt-BR">
                <a:solidFill>
                  <a:srgbClr val="B41B26"/>
                </a:solidFill>
                <a:latin typeface="Poppins"/>
                <a:ea typeface="Poppins"/>
                <a:cs typeface="Poppins"/>
                <a:sym typeface="Poppins"/>
              </a:rPr>
              <a:t>:</a:t>
            </a:r>
            <a:r>
              <a:rPr lang="pt-BR">
                <a:solidFill>
                  <a:srgbClr val="202020"/>
                </a:solidFill>
                <a:latin typeface="Poppins"/>
                <a:ea typeface="Poppins"/>
                <a:cs typeface="Poppins"/>
                <a:sym typeface="Poppins"/>
              </a:rPr>
              <a:t> </a:t>
            </a:r>
            <a:r>
              <a:rPr i="1" lang="pt-BR">
                <a:solidFill>
                  <a:srgbClr val="202020"/>
                </a:solidFill>
                <a:latin typeface="Poppins"/>
                <a:ea typeface="Poppins"/>
                <a:cs typeface="Poppins"/>
                <a:sym typeface="Poppins"/>
              </a:rPr>
              <a:t>Object Storage (AWS S3, Azure Blob, Google Cloud Storage)</a:t>
            </a:r>
            <a:r>
              <a:rPr lang="pt-BR">
                <a:solidFill>
                  <a:srgbClr val="202020"/>
                </a:solidFill>
                <a:latin typeface="Poppins"/>
                <a:ea typeface="Poppins"/>
                <a:cs typeface="Poppins"/>
                <a:sym typeface="Poppins"/>
              </a:rPr>
              <a:t>.</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rPr b="1" i="1" lang="pt-BR">
                <a:solidFill>
                  <a:srgbClr val="B41B26"/>
                </a:solidFill>
                <a:latin typeface="Poppins"/>
                <a:ea typeface="Poppins"/>
                <a:cs typeface="Poppins"/>
                <a:sym typeface="Poppins"/>
              </a:rPr>
              <a:t>Use-Case:</a:t>
            </a:r>
            <a:r>
              <a:rPr b="1" i="1" lang="pt-BR">
                <a:solidFill>
                  <a:srgbClr val="202020"/>
                </a:solidFill>
                <a:latin typeface="Poppins"/>
                <a:ea typeface="Poppins"/>
                <a:cs typeface="Poppins"/>
                <a:sym typeface="Poppins"/>
              </a:rPr>
              <a:t> </a:t>
            </a:r>
            <a:r>
              <a:rPr i="1" lang="pt-BR">
                <a:solidFill>
                  <a:srgbClr val="202020"/>
                </a:solidFill>
                <a:latin typeface="Poppins"/>
                <a:ea typeface="Poppins"/>
                <a:cs typeface="Poppins"/>
                <a:sym typeface="Poppins"/>
              </a:rPr>
              <a:t>Extrair o sentimento (positivo, negativo, neutro) de um comentário no Reclame Aqui sobre prazo de entrega é transformar dado não estruturado em dado estruturado analítico.</a:t>
            </a:r>
            <a:endParaRPr i="1">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p:txBody>
      </p:sp>
      <p:sp>
        <p:nvSpPr>
          <p:cNvPr id="235" name="Google Shape;235;g3f5f0e60465_0_80"/>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Fundamentos: </a:t>
            </a:r>
            <a:r>
              <a:rPr b="0" lang="pt-BR" sz="2200">
                <a:solidFill>
                  <a:srgbClr val="B41B26"/>
                </a:solidFill>
              </a:rPr>
              <a:t>O que são Dados Não Estruturados?</a:t>
            </a:r>
            <a:endParaRPr b="0" sz="2200">
              <a:solidFill>
                <a:srgbClr val="B41B2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f5f0e60465_0_85"/>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pt-BR" sz="2000">
                <a:solidFill>
                  <a:srgbClr val="B41B26"/>
                </a:solidFill>
                <a:latin typeface="Poppins"/>
                <a:ea typeface="Poppins"/>
                <a:cs typeface="Poppins"/>
                <a:sym typeface="Poppins"/>
              </a:rPr>
              <a:t>Invertendo a Lógica da Engenharia:</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just">
              <a:lnSpc>
                <a:spcPct val="100000"/>
              </a:lnSpc>
              <a:spcBef>
                <a:spcPts val="0"/>
              </a:spcBef>
              <a:spcAft>
                <a:spcPts val="0"/>
              </a:spcAft>
              <a:buClr>
                <a:schemeClr val="dk1"/>
              </a:buClr>
              <a:buSzPts val="1100"/>
              <a:buFont typeface="Arial"/>
              <a:buNone/>
            </a:pPr>
            <a:r>
              <a:rPr i="1" lang="pt-BR">
                <a:solidFill>
                  <a:srgbClr val="202020"/>
                </a:solidFill>
                <a:latin typeface="Poppins"/>
                <a:ea typeface="Poppins"/>
                <a:cs typeface="Poppins"/>
                <a:sym typeface="Poppins"/>
              </a:rPr>
              <a:t>Ao invés de definir o formato e validar no momento de salvar (Schema-on-Write), nós guardamos o dado no seu estado mais bruto, nativo e barato, e só nos preocupamos com o esquema (colunas) no momento de ler/analisar a informação (Schema-on-Read).</a:t>
            </a:r>
            <a:endParaRPr i="1">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0" lvl="0" marL="0" rtl="0" algn="l">
              <a:lnSpc>
                <a:spcPct val="100000"/>
              </a:lnSpc>
              <a:spcBef>
                <a:spcPts val="0"/>
              </a:spcBef>
              <a:spcAft>
                <a:spcPts val="0"/>
              </a:spcAft>
              <a:buClr>
                <a:schemeClr val="dk1"/>
              </a:buClr>
              <a:buSzPts val="1100"/>
              <a:buFont typeface="Arial"/>
              <a:buNone/>
            </a:pPr>
            <a:r>
              <a:t/>
            </a:r>
            <a:endParaRPr b="1" sz="2000">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i="1" lang="pt-BR">
                <a:solidFill>
                  <a:srgbClr val="B41B26"/>
                </a:solidFill>
                <a:latin typeface="Poppins"/>
                <a:ea typeface="Poppins"/>
                <a:cs typeface="Poppins"/>
                <a:sym typeface="Poppins"/>
              </a:rPr>
              <a:t>Data Lakes</a:t>
            </a:r>
            <a:r>
              <a:rPr b="1" lang="pt-BR">
                <a:solidFill>
                  <a:srgbClr val="B41B26"/>
                </a:solidFill>
                <a:latin typeface="Poppins"/>
                <a:ea typeface="Poppins"/>
                <a:cs typeface="Poppins"/>
                <a:sym typeface="Poppins"/>
              </a:rPr>
              <a:t>:</a:t>
            </a:r>
            <a:r>
              <a:rPr b="1" lang="pt-BR">
                <a:solidFill>
                  <a:srgbClr val="202020"/>
                </a:solidFill>
                <a:latin typeface="Poppins"/>
                <a:ea typeface="Poppins"/>
                <a:cs typeface="Poppins"/>
                <a:sym typeface="Poppins"/>
              </a:rPr>
              <a:t> </a:t>
            </a:r>
            <a:r>
              <a:rPr lang="pt-BR">
                <a:solidFill>
                  <a:srgbClr val="202020"/>
                </a:solidFill>
                <a:latin typeface="Poppins"/>
                <a:ea typeface="Poppins"/>
                <a:cs typeface="Poppins"/>
                <a:sym typeface="Poppins"/>
              </a:rPr>
              <a:t>Onde o </a:t>
            </a:r>
            <a:r>
              <a:rPr i="1" lang="pt-BR">
                <a:solidFill>
                  <a:srgbClr val="202020"/>
                </a:solidFill>
                <a:latin typeface="Poppins"/>
                <a:ea typeface="Poppins"/>
                <a:cs typeface="Poppins"/>
                <a:sym typeface="Poppins"/>
              </a:rPr>
              <a:t>Schema-on-Read</a:t>
            </a:r>
            <a:r>
              <a:rPr lang="pt-BR">
                <a:solidFill>
                  <a:srgbClr val="202020"/>
                </a:solidFill>
                <a:latin typeface="Poppins"/>
                <a:ea typeface="Poppins"/>
                <a:cs typeface="Poppins"/>
                <a:sym typeface="Poppins"/>
              </a:rPr>
              <a:t> prospera. Repositórios centralizados desenhados para armazenar volumes gigantescos de dados estruturados, semi e não estruturados a um custo ínfimo.</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rPr b="1" lang="pt-BR">
                <a:solidFill>
                  <a:srgbClr val="B41B26"/>
                </a:solidFill>
                <a:latin typeface="Poppins"/>
                <a:ea typeface="Poppins"/>
                <a:cs typeface="Poppins"/>
                <a:sym typeface="Poppins"/>
              </a:rPr>
              <a:t>Insight Executivo: </a:t>
            </a:r>
            <a:r>
              <a:rPr lang="pt-BR">
                <a:solidFill>
                  <a:srgbClr val="202020"/>
                </a:solidFill>
                <a:latin typeface="Poppins"/>
                <a:ea typeface="Poppins"/>
                <a:cs typeface="Poppins"/>
                <a:sym typeface="Poppins"/>
              </a:rPr>
              <a:t>A flexibilidade do </a:t>
            </a:r>
            <a:r>
              <a:rPr i="1" lang="pt-BR">
                <a:solidFill>
                  <a:srgbClr val="202020"/>
                </a:solidFill>
                <a:latin typeface="Poppins"/>
                <a:ea typeface="Poppins"/>
                <a:cs typeface="Poppins"/>
                <a:sym typeface="Poppins"/>
              </a:rPr>
              <a:t>Schema-on-Read</a:t>
            </a:r>
            <a:r>
              <a:rPr lang="pt-BR">
                <a:solidFill>
                  <a:srgbClr val="202020"/>
                </a:solidFill>
                <a:latin typeface="Poppins"/>
                <a:ea typeface="Poppins"/>
                <a:cs typeface="Poppins"/>
                <a:sym typeface="Poppins"/>
              </a:rPr>
              <a:t> permite coletar todos os rastros digitais hoje para responder perguntas de negócio que ainda nem foram formuladas pela diretoria.</a:t>
            </a:r>
            <a:endParaRPr>
              <a:solidFill>
                <a:srgbClr val="202020"/>
              </a:solidFill>
              <a:latin typeface="Poppins"/>
              <a:ea typeface="Poppins"/>
              <a:cs typeface="Poppins"/>
              <a:sym typeface="Poppins"/>
            </a:endParaRPr>
          </a:p>
        </p:txBody>
      </p:sp>
      <p:sp>
        <p:nvSpPr>
          <p:cNvPr id="241" name="Google Shape;241;g3f5f0e60465_0_85"/>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O Paradigma do </a:t>
            </a:r>
            <a:r>
              <a:rPr i="1" lang="pt-BR" sz="2200">
                <a:solidFill>
                  <a:srgbClr val="B41B26"/>
                </a:solidFill>
              </a:rPr>
              <a:t>Schema-on-Read</a:t>
            </a:r>
            <a:r>
              <a:rPr lang="pt-BR" sz="2200">
                <a:solidFill>
                  <a:srgbClr val="B41B26"/>
                </a:solidFill>
              </a:rPr>
              <a:t> e </a:t>
            </a:r>
            <a:r>
              <a:rPr i="1" lang="pt-BR" sz="2200">
                <a:solidFill>
                  <a:srgbClr val="B41B26"/>
                </a:solidFill>
              </a:rPr>
              <a:t>Data Lakes</a:t>
            </a:r>
            <a:endParaRPr b="0" i="1" sz="2200">
              <a:solidFill>
                <a:srgbClr val="B41B2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f5f0e60465_0_90"/>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O Paradigma do </a:t>
            </a:r>
            <a:r>
              <a:rPr i="1" lang="pt-BR" sz="2200">
                <a:solidFill>
                  <a:srgbClr val="B41B26"/>
                </a:solidFill>
              </a:rPr>
              <a:t>Schema-on-Read</a:t>
            </a:r>
            <a:r>
              <a:rPr lang="pt-BR" sz="2200">
                <a:solidFill>
                  <a:srgbClr val="B41B26"/>
                </a:solidFill>
              </a:rPr>
              <a:t> e </a:t>
            </a:r>
            <a:r>
              <a:rPr i="1" lang="pt-BR" sz="2200">
                <a:solidFill>
                  <a:srgbClr val="B41B26"/>
                </a:solidFill>
              </a:rPr>
              <a:t>Data Lakes</a:t>
            </a:r>
            <a:endParaRPr b="0" i="1" sz="2200">
              <a:solidFill>
                <a:srgbClr val="B41B26"/>
              </a:solidFill>
            </a:endParaRPr>
          </a:p>
        </p:txBody>
      </p:sp>
      <p:pic>
        <p:nvPicPr>
          <p:cNvPr id="247" name="Google Shape;247;g3f5f0e60465_0_90"/>
          <p:cNvPicPr preferRelativeResize="0"/>
          <p:nvPr/>
        </p:nvPicPr>
        <p:blipFill>
          <a:blip r:embed="rId3">
            <a:alphaModFix/>
          </a:blip>
          <a:stretch>
            <a:fillRect/>
          </a:stretch>
        </p:blipFill>
        <p:spPr>
          <a:xfrm>
            <a:off x="414325" y="1468563"/>
            <a:ext cx="11363325" cy="1628775"/>
          </a:xfrm>
          <a:prstGeom prst="rect">
            <a:avLst/>
          </a:prstGeom>
          <a:noFill/>
          <a:ln>
            <a:noFill/>
          </a:ln>
        </p:spPr>
      </p:pic>
      <p:pic>
        <p:nvPicPr>
          <p:cNvPr id="248" name="Google Shape;248;g3f5f0e60465_0_90"/>
          <p:cNvPicPr preferRelativeResize="0"/>
          <p:nvPr/>
        </p:nvPicPr>
        <p:blipFill>
          <a:blip r:embed="rId4">
            <a:alphaModFix/>
          </a:blip>
          <a:stretch>
            <a:fillRect/>
          </a:stretch>
        </p:blipFill>
        <p:spPr>
          <a:xfrm>
            <a:off x="419100" y="3249750"/>
            <a:ext cx="11363325" cy="157281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f5f0e60465_0_97"/>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Font typeface="Arial"/>
              <a:buNone/>
            </a:pPr>
            <a:r>
              <a:rPr i="1" lang="pt-BR">
                <a:solidFill>
                  <a:srgbClr val="202020"/>
                </a:solidFill>
                <a:latin typeface="Poppins"/>
                <a:ea typeface="Poppins"/>
                <a:cs typeface="Poppins"/>
                <a:sym typeface="Poppins"/>
              </a:rPr>
              <a:t>Se o </a:t>
            </a:r>
            <a:r>
              <a:rPr b="1" i="1" lang="pt-BR">
                <a:solidFill>
                  <a:srgbClr val="202020"/>
                </a:solidFill>
                <a:latin typeface="Poppins"/>
                <a:ea typeface="Poppins"/>
                <a:cs typeface="Poppins"/>
                <a:sym typeface="Poppins"/>
              </a:rPr>
              <a:t>Schema-on-Read</a:t>
            </a:r>
            <a:r>
              <a:rPr i="1" lang="pt-BR">
                <a:solidFill>
                  <a:srgbClr val="202020"/>
                </a:solidFill>
                <a:latin typeface="Poppins"/>
                <a:ea typeface="Poppins"/>
                <a:cs typeface="Poppins"/>
                <a:sym typeface="Poppins"/>
              </a:rPr>
              <a:t> do </a:t>
            </a:r>
            <a:r>
              <a:rPr b="1" i="1" lang="pt-BR">
                <a:solidFill>
                  <a:srgbClr val="202020"/>
                </a:solidFill>
                <a:latin typeface="Poppins"/>
                <a:ea typeface="Poppins"/>
                <a:cs typeface="Poppins"/>
                <a:sym typeface="Poppins"/>
              </a:rPr>
              <a:t>Data Lake</a:t>
            </a:r>
            <a:r>
              <a:rPr i="1" lang="pt-BR">
                <a:solidFill>
                  <a:srgbClr val="202020"/>
                </a:solidFill>
                <a:latin typeface="Poppins"/>
                <a:ea typeface="Poppins"/>
                <a:cs typeface="Poppins"/>
                <a:sym typeface="Poppins"/>
              </a:rPr>
              <a:t> permite salvar qualquer arquivo JSON, TXT ou imagem sem validação prévia de esquema de forma barata, </a:t>
            </a:r>
            <a:r>
              <a:rPr b="1" i="1" lang="pt-BR">
                <a:solidFill>
                  <a:srgbClr val="202020"/>
                </a:solidFill>
                <a:latin typeface="Poppins"/>
                <a:ea typeface="Poppins"/>
                <a:cs typeface="Poppins"/>
                <a:sym typeface="Poppins"/>
              </a:rPr>
              <a:t>por que não abandonamos os bancos de dados relacionais e sistemas ERPs estruturados de uma vez por todas</a:t>
            </a:r>
            <a:r>
              <a:rPr i="1" lang="pt-BR">
                <a:solidFill>
                  <a:srgbClr val="202020"/>
                </a:solidFill>
                <a:latin typeface="Poppins"/>
                <a:ea typeface="Poppins"/>
                <a:cs typeface="Poppins"/>
                <a:sym typeface="Poppins"/>
              </a:rPr>
              <a:t>?</a:t>
            </a:r>
            <a:endParaRPr i="1">
              <a:solidFill>
                <a:srgbClr val="202020"/>
              </a:solidFill>
              <a:latin typeface="Poppins"/>
              <a:ea typeface="Poppins"/>
              <a:cs typeface="Poppins"/>
              <a:sym typeface="Poppins"/>
            </a:endParaRPr>
          </a:p>
          <a:p>
            <a:pPr indent="0" lvl="0" marL="0" rtl="0" algn="just">
              <a:lnSpc>
                <a:spcPct val="100000"/>
              </a:lnSpc>
              <a:spcBef>
                <a:spcPts val="0"/>
              </a:spcBef>
              <a:spcAft>
                <a:spcPts val="0"/>
              </a:spcAft>
              <a:buClr>
                <a:schemeClr val="dk1"/>
              </a:buClr>
              <a:buSzPts val="1100"/>
              <a:buFont typeface="Arial"/>
              <a:buNone/>
            </a:pPr>
            <a:r>
              <a:t/>
            </a:r>
            <a:endParaRPr i="1">
              <a:solidFill>
                <a:srgbClr val="202020"/>
              </a:solidFill>
              <a:latin typeface="Poppins"/>
              <a:ea typeface="Poppins"/>
              <a:cs typeface="Poppins"/>
              <a:sym typeface="Poppins"/>
            </a:endParaRPr>
          </a:p>
          <a:p>
            <a:pPr indent="0" lvl="0" marL="0" rtl="0" algn="just">
              <a:lnSpc>
                <a:spcPct val="100000"/>
              </a:lnSpc>
              <a:spcBef>
                <a:spcPts val="0"/>
              </a:spcBef>
              <a:spcAft>
                <a:spcPts val="0"/>
              </a:spcAft>
              <a:buClr>
                <a:schemeClr val="dk1"/>
              </a:buClr>
              <a:buSzPts val="1100"/>
              <a:buFont typeface="Arial"/>
              <a:buNone/>
            </a:pPr>
            <a:r>
              <a:t/>
            </a:r>
            <a:endParaRPr i="1">
              <a:solidFill>
                <a:srgbClr val="202020"/>
              </a:solidFill>
              <a:latin typeface="Poppins"/>
              <a:ea typeface="Poppins"/>
              <a:cs typeface="Poppins"/>
              <a:sym typeface="Poppins"/>
            </a:endParaRPr>
          </a:p>
          <a:p>
            <a:pPr indent="0" lvl="0" marL="0" rtl="0" algn="just">
              <a:lnSpc>
                <a:spcPct val="100000"/>
              </a:lnSpc>
              <a:spcBef>
                <a:spcPts val="0"/>
              </a:spcBef>
              <a:spcAft>
                <a:spcPts val="0"/>
              </a:spcAft>
              <a:buClr>
                <a:schemeClr val="dk1"/>
              </a:buClr>
              <a:buSzPts val="1100"/>
              <a:buFont typeface="Arial"/>
              <a:buNone/>
            </a:pPr>
            <a:r>
              <a:t/>
            </a:r>
            <a:endParaRPr i="1">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i="1" lang="pt-BR">
                <a:solidFill>
                  <a:srgbClr val="B41B26"/>
                </a:solidFill>
                <a:latin typeface="Poppins"/>
                <a:ea typeface="Poppins"/>
                <a:cs typeface="Poppins"/>
                <a:sym typeface="Poppins"/>
              </a:rPr>
              <a:t>O que é um "Data Swamp" (Pântano de Dados)? </a:t>
            </a:r>
            <a:endParaRPr b="1" i="1">
              <a:solidFill>
                <a:srgbClr val="B41B26"/>
              </a:solidFill>
              <a:latin typeface="Poppins"/>
              <a:ea typeface="Poppins"/>
              <a:cs typeface="Poppins"/>
              <a:sym typeface="Poppins"/>
            </a:endParaRPr>
          </a:p>
          <a:p>
            <a:pPr indent="-317500" lvl="1" marL="914400" rtl="0" algn="l">
              <a:lnSpc>
                <a:spcPct val="100000"/>
              </a:lnSpc>
              <a:spcBef>
                <a:spcPts val="0"/>
              </a:spcBef>
              <a:spcAft>
                <a:spcPts val="0"/>
              </a:spcAft>
              <a:buSzPts val="1400"/>
              <a:buFont typeface="Poppins"/>
              <a:buChar char="○"/>
            </a:pPr>
            <a:r>
              <a:rPr i="1" lang="pt-BR" sz="1400">
                <a:solidFill>
                  <a:srgbClr val="202020"/>
                </a:solidFill>
                <a:latin typeface="Poppins"/>
                <a:ea typeface="Poppins"/>
                <a:cs typeface="Poppins"/>
                <a:sym typeface="Poppins"/>
              </a:rPr>
              <a:t>É um Data Lake sem curadoria, catálogos, governança ou metadados. O dado está armazenado de forma barata, mas tornou-se inútil porque ninguém sabe o que tem lá, a origem da informação, sua confiabilidade ou como juntar um registro financeiro com um log do site.</a:t>
            </a:r>
            <a:endParaRPr i="1" sz="1400">
              <a:solidFill>
                <a:srgbClr val="202020"/>
              </a:solidFill>
              <a:latin typeface="Poppins"/>
              <a:ea typeface="Poppins"/>
              <a:cs typeface="Poppins"/>
              <a:sym typeface="Poppins"/>
            </a:endParaRPr>
          </a:p>
        </p:txBody>
      </p:sp>
      <p:sp>
        <p:nvSpPr>
          <p:cNvPr id="254" name="Google Shape;254;g3f5f0e60465_0_97"/>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O Perigo do </a:t>
            </a:r>
            <a:r>
              <a:rPr i="1" lang="pt-BR" sz="2200">
                <a:solidFill>
                  <a:srgbClr val="B41B26"/>
                </a:solidFill>
              </a:rPr>
              <a:t>Data Swamp</a:t>
            </a:r>
            <a:endParaRPr b="0" i="1" sz="2200">
              <a:solidFill>
                <a:srgbClr val="B41B2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f5f0e60465_0_107"/>
          <p:cNvSpPr txBox="1"/>
          <p:nvPr>
            <p:ph type="title"/>
          </p:nvPr>
        </p:nvSpPr>
        <p:spPr>
          <a:xfrm>
            <a:off x="1400175" y="2790825"/>
            <a:ext cx="9838800" cy="1276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4800"/>
              <a:buFont typeface="Poppins"/>
              <a:buNone/>
            </a:pPr>
            <a:r>
              <a:rPr lang="pt-BR" sz="4200">
                <a:solidFill>
                  <a:srgbClr val="202020"/>
                </a:solidFill>
              </a:rPr>
              <a:t>Modelagem Informacional</a:t>
            </a:r>
            <a:endParaRPr sz="4200">
              <a:solidFill>
                <a:srgbClr val="202020"/>
              </a:solidFill>
            </a:endParaRPr>
          </a:p>
        </p:txBody>
      </p:sp>
      <p:sp>
        <p:nvSpPr>
          <p:cNvPr id="260" name="Google Shape;260;g3f5f0e60465_0_107"/>
          <p:cNvSpPr txBox="1"/>
          <p:nvPr>
            <p:ph idx="1" type="body"/>
          </p:nvPr>
        </p:nvSpPr>
        <p:spPr>
          <a:xfrm>
            <a:off x="1400200" y="4067322"/>
            <a:ext cx="9838800" cy="7239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2200"/>
              <a:buNone/>
            </a:pPr>
            <a:r>
              <a:rPr lang="pt-BR" sz="2100">
                <a:solidFill>
                  <a:srgbClr val="202020"/>
                </a:solidFill>
              </a:rPr>
              <a:t>Laboratório Prático (PBL)</a:t>
            </a:r>
            <a:endParaRPr sz="2000">
              <a:solidFill>
                <a:srgbClr val="202020"/>
              </a:solidFill>
            </a:endParaRPr>
          </a:p>
        </p:txBody>
      </p:sp>
      <p:sp>
        <p:nvSpPr>
          <p:cNvPr id="261" name="Google Shape;261;g3f5f0e60465_0_107"/>
          <p:cNvSpPr txBox="1"/>
          <p:nvPr>
            <p:ph idx="1" type="body"/>
          </p:nvPr>
        </p:nvSpPr>
        <p:spPr>
          <a:xfrm>
            <a:off x="1400200" y="5963822"/>
            <a:ext cx="9838800" cy="7239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2200"/>
              <a:buNone/>
            </a:pPr>
            <a:r>
              <a:rPr lang="pt-BR" sz="2100">
                <a:solidFill>
                  <a:srgbClr val="202020"/>
                </a:solidFill>
              </a:rPr>
              <a:t>Prof. Dr. Wagner de A. Perin</a:t>
            </a:r>
            <a:endParaRPr sz="2000">
              <a:solidFill>
                <a:srgbClr val="20202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f5f0e60465_0_113"/>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pt-BR">
                <a:solidFill>
                  <a:srgbClr val="202020"/>
                </a:solidFill>
                <a:latin typeface="Poppins"/>
                <a:ea typeface="Poppins"/>
                <a:cs typeface="Poppins"/>
                <a:sym typeface="Poppins"/>
              </a:rPr>
              <a:t>Vamos atuar como a equipe de </a:t>
            </a:r>
            <a:r>
              <a:rPr b="1" lang="pt-BR">
                <a:solidFill>
                  <a:srgbClr val="202020"/>
                </a:solidFill>
                <a:latin typeface="Poppins"/>
                <a:ea typeface="Poppins"/>
                <a:cs typeface="Poppins"/>
                <a:sym typeface="Poppins"/>
              </a:rPr>
              <a:t>Analytics </a:t>
            </a:r>
            <a:r>
              <a:rPr lang="pt-BR">
                <a:solidFill>
                  <a:srgbClr val="202020"/>
                </a:solidFill>
                <a:latin typeface="Poppins"/>
                <a:ea typeface="Poppins"/>
                <a:cs typeface="Poppins"/>
                <a:sym typeface="Poppins"/>
              </a:rPr>
              <a:t>e explorar as 3 tipologias de dados que compõem o cenário da varejista multicanal.</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rPr b="1" lang="pt-BR">
                <a:solidFill>
                  <a:srgbClr val="202020"/>
                </a:solidFill>
                <a:latin typeface="Poppins"/>
                <a:ea typeface="Poppins"/>
                <a:cs typeface="Poppins"/>
                <a:sym typeface="Poppins"/>
              </a:rPr>
              <a:t>O Desafio Computacional</a:t>
            </a:r>
            <a:r>
              <a:rPr lang="pt-BR">
                <a:solidFill>
                  <a:srgbClr val="202020"/>
                </a:solidFill>
                <a:latin typeface="Poppins"/>
                <a:ea typeface="Poppins"/>
                <a:cs typeface="Poppins"/>
                <a:sym typeface="Poppins"/>
              </a:rPr>
              <a:t>: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Char char="●"/>
            </a:pPr>
            <a:r>
              <a:rPr b="1" lang="pt-BR">
                <a:solidFill>
                  <a:srgbClr val="202020"/>
                </a:solidFill>
                <a:latin typeface="Poppins"/>
                <a:ea typeface="Poppins"/>
                <a:cs typeface="Poppins"/>
                <a:sym typeface="Poppins"/>
              </a:rPr>
              <a:t>Responder</a:t>
            </a:r>
            <a:r>
              <a:rPr lang="pt-BR">
                <a:solidFill>
                  <a:srgbClr val="202020"/>
                </a:solidFill>
                <a:latin typeface="Poppins"/>
                <a:ea typeface="Poppins"/>
                <a:cs typeface="Poppins"/>
                <a:sym typeface="Poppins"/>
              </a:rPr>
              <a:t>: "</a:t>
            </a:r>
            <a:r>
              <a:rPr i="1" lang="pt-BR">
                <a:solidFill>
                  <a:srgbClr val="202020"/>
                </a:solidFill>
                <a:latin typeface="Poppins"/>
                <a:ea typeface="Poppins"/>
                <a:cs typeface="Poppins"/>
                <a:sym typeface="Poppins"/>
              </a:rPr>
              <a:t>Clientes que reclamam do prazo de entrega no suporte tendem a diminuir o ticket médio nas compras do app?</a:t>
            </a:r>
            <a:r>
              <a:rPr lang="pt-BR">
                <a:solidFill>
                  <a:srgbClr val="202020"/>
                </a:solidFill>
                <a:latin typeface="Poppins"/>
                <a:ea typeface="Poppins"/>
                <a:cs typeface="Poppins"/>
                <a:sym typeface="Poppins"/>
              </a:rPr>
              <a:t>"</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rPr lang="pt-BR">
                <a:solidFill>
                  <a:srgbClr val="202020"/>
                </a:solidFill>
                <a:latin typeface="Poppins"/>
                <a:ea typeface="Poppins"/>
                <a:cs typeface="Poppins"/>
                <a:sym typeface="Poppins"/>
              </a:rPr>
              <a:t>Acesso aos Dados (Dataset Fornecido):</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b="1" lang="pt-BR">
                <a:solidFill>
                  <a:srgbClr val="202020"/>
                </a:solidFill>
                <a:latin typeface="Poppins"/>
                <a:ea typeface="Poppins"/>
                <a:cs typeface="Poppins"/>
                <a:sym typeface="Poppins"/>
              </a:rPr>
              <a:t>Tabela SQL</a:t>
            </a:r>
            <a:r>
              <a:rPr lang="pt-BR">
                <a:solidFill>
                  <a:srgbClr val="202020"/>
                </a:solidFill>
                <a:latin typeface="Poppins"/>
                <a:ea typeface="Poppins"/>
                <a:cs typeface="Poppins"/>
                <a:sym typeface="Poppins"/>
              </a:rPr>
              <a:t>: Histórico de Vendas (SQLite).</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b="1" lang="pt-BR">
                <a:solidFill>
                  <a:srgbClr val="202020"/>
                </a:solidFill>
                <a:latin typeface="Poppins"/>
                <a:ea typeface="Poppins"/>
                <a:cs typeface="Poppins"/>
                <a:sym typeface="Poppins"/>
              </a:rPr>
              <a:t>Arquivo JSON</a:t>
            </a:r>
            <a:r>
              <a:rPr lang="pt-BR">
                <a:solidFill>
                  <a:srgbClr val="202020"/>
                </a:solidFill>
                <a:latin typeface="Poppins"/>
                <a:ea typeface="Poppins"/>
                <a:cs typeface="Poppins"/>
                <a:sym typeface="Poppins"/>
              </a:rPr>
              <a:t>: Logs complexos de Navegação no App.</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b="1" lang="pt-BR">
                <a:solidFill>
                  <a:srgbClr val="202020"/>
                </a:solidFill>
                <a:latin typeface="Poppins"/>
                <a:ea typeface="Poppins"/>
                <a:cs typeface="Poppins"/>
                <a:sym typeface="Poppins"/>
              </a:rPr>
              <a:t>Arquivo TXT/CSV Livre</a:t>
            </a:r>
            <a:r>
              <a:rPr lang="pt-BR">
                <a:solidFill>
                  <a:srgbClr val="202020"/>
                </a:solidFill>
                <a:latin typeface="Poppins"/>
                <a:ea typeface="Poppins"/>
                <a:cs typeface="Poppins"/>
                <a:sym typeface="Poppins"/>
              </a:rPr>
              <a:t>: Reclamações abertas no SAC.</a:t>
            </a:r>
            <a:endParaRPr>
              <a:solidFill>
                <a:srgbClr val="202020"/>
              </a:solidFill>
              <a:latin typeface="Poppins"/>
              <a:ea typeface="Poppins"/>
              <a:cs typeface="Poppins"/>
              <a:sym typeface="Poppins"/>
            </a:endParaRPr>
          </a:p>
        </p:txBody>
      </p:sp>
      <p:sp>
        <p:nvSpPr>
          <p:cNvPr id="267" name="Google Shape;267;g3f5f0e60465_0_113"/>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Laboratório Prático (PBL)</a:t>
            </a:r>
            <a:endParaRPr b="0" i="1" sz="2200">
              <a:solidFill>
                <a:srgbClr val="B41B26"/>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f5f0e60465_0_119"/>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Conecte ao Banco Relacional do ERP utilizando sqlite3.</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Executando query estruturada e rígida que mostre os ids, datas de compra, valor total de todas as vendas cujo valor total foi superior a R$ 500,00.</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Desafio: Tente inserir via SQL uma venda com '</a:t>
            </a:r>
            <a:r>
              <a:rPr i="1" lang="pt-BR">
                <a:solidFill>
                  <a:srgbClr val="202020"/>
                </a:solidFill>
                <a:latin typeface="Poppins"/>
                <a:ea typeface="Poppins"/>
                <a:cs typeface="Poppins"/>
                <a:sym typeface="Poppins"/>
              </a:rPr>
              <a:t>valor_total</a:t>
            </a:r>
            <a:r>
              <a:rPr lang="pt-BR">
                <a:solidFill>
                  <a:srgbClr val="202020"/>
                </a:solidFill>
                <a:latin typeface="Poppins"/>
                <a:ea typeface="Poppins"/>
                <a:cs typeface="Poppins"/>
                <a:sym typeface="Poppins"/>
              </a:rPr>
              <a:t>' contendo o texto "R$ 600,00". O que acontece com a tipagem forte?</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p:txBody>
      </p:sp>
      <p:sp>
        <p:nvSpPr>
          <p:cNvPr id="273" name="Google Shape;273;g3f5f0e60465_0_119"/>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Task 1 - </a:t>
            </a:r>
            <a:r>
              <a:rPr b="0" lang="pt-BR" sz="2200">
                <a:solidFill>
                  <a:srgbClr val="B41B26"/>
                </a:solidFill>
              </a:rPr>
              <a:t>Manipulando Dados Estruturados</a:t>
            </a:r>
            <a:endParaRPr b="0" i="1" sz="2200">
              <a:solidFill>
                <a:srgbClr val="B41B2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f5f0e60465_0_125"/>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Conecte ao Banco Relacional do ERP utilizando sqlite3.</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Executando query estruturada e rígida que mostre os ids, datas de compra, valor total de todas as vendas cujo valor total foi superior a R$ 500,00.</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Desafio: Tente inserir via SQL uma venda com '</a:t>
            </a:r>
            <a:r>
              <a:rPr i="1" lang="pt-BR">
                <a:solidFill>
                  <a:srgbClr val="202020"/>
                </a:solidFill>
                <a:latin typeface="Poppins"/>
                <a:ea typeface="Poppins"/>
                <a:cs typeface="Poppins"/>
                <a:sym typeface="Poppins"/>
              </a:rPr>
              <a:t>valor_total</a:t>
            </a:r>
            <a:r>
              <a:rPr lang="pt-BR">
                <a:solidFill>
                  <a:srgbClr val="202020"/>
                </a:solidFill>
                <a:latin typeface="Poppins"/>
                <a:ea typeface="Poppins"/>
                <a:cs typeface="Poppins"/>
                <a:sym typeface="Poppins"/>
              </a:rPr>
              <a:t>' contendo o texto "R$ 600,00". O que acontece com a tipagem forte?</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p:txBody>
      </p:sp>
      <p:sp>
        <p:nvSpPr>
          <p:cNvPr id="279" name="Google Shape;279;g3f5f0e60465_0_125"/>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Task 1 - </a:t>
            </a:r>
            <a:r>
              <a:rPr b="0" lang="pt-BR" sz="2200">
                <a:solidFill>
                  <a:srgbClr val="B41B26"/>
                </a:solidFill>
              </a:rPr>
              <a:t>Manipulando Dados Estruturados</a:t>
            </a:r>
            <a:endParaRPr b="0" i="1" sz="2200">
              <a:solidFill>
                <a:srgbClr val="B41B26"/>
              </a:solidFill>
            </a:endParaRPr>
          </a:p>
        </p:txBody>
      </p:sp>
      <p:pic>
        <p:nvPicPr>
          <p:cNvPr id="280" name="Google Shape;280;g3f5f0e60465_0_125"/>
          <p:cNvPicPr preferRelativeResize="0"/>
          <p:nvPr/>
        </p:nvPicPr>
        <p:blipFill>
          <a:blip r:embed="rId3">
            <a:alphaModFix/>
          </a:blip>
          <a:stretch>
            <a:fillRect/>
          </a:stretch>
        </p:blipFill>
        <p:spPr>
          <a:xfrm>
            <a:off x="6104125" y="2612675"/>
            <a:ext cx="5157000" cy="3803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f5f0e60465_0_131"/>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Antes de seguir, abra o arquivo de logs e analise visualmente seu conteúdo.</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Carregue os logs de navegação do App num </a:t>
            </a:r>
            <a:r>
              <a:rPr i="1" lang="pt-BR">
                <a:solidFill>
                  <a:srgbClr val="202020"/>
                </a:solidFill>
                <a:latin typeface="Poppins"/>
                <a:ea typeface="Poppins"/>
                <a:cs typeface="Poppins"/>
                <a:sym typeface="Poppins"/>
              </a:rPr>
              <a:t>dataset</a:t>
            </a:r>
            <a:r>
              <a:rPr lang="pt-BR">
                <a:solidFill>
                  <a:srgbClr val="202020"/>
                </a:solidFill>
                <a:latin typeface="Poppins"/>
                <a:ea typeface="Poppins"/>
                <a:cs typeface="Poppins"/>
                <a:sym typeface="Poppins"/>
              </a:rPr>
              <a:t>.</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Existe um p</a:t>
            </a:r>
            <a:r>
              <a:rPr lang="pt-BR">
                <a:solidFill>
                  <a:srgbClr val="202020"/>
                </a:solidFill>
                <a:latin typeface="Poppins"/>
                <a:ea typeface="Poppins"/>
                <a:cs typeface="Poppins"/>
                <a:sym typeface="Poppins"/>
              </a:rPr>
              <a:t>roblema nos dados: O JSON possui aninhamentos variáveis (devices, localizacao). Resolva isso utilizando </a:t>
            </a:r>
            <a:r>
              <a:rPr i="1" lang="pt-BR">
                <a:solidFill>
                  <a:srgbClr val="202020"/>
                </a:solidFill>
                <a:latin typeface="Poppins"/>
                <a:ea typeface="Poppins"/>
                <a:cs typeface="Poppins"/>
                <a:sym typeface="Poppins"/>
              </a:rPr>
              <a:t>flattening </a:t>
            </a:r>
            <a:r>
              <a:rPr lang="pt-BR">
                <a:solidFill>
                  <a:srgbClr val="202020"/>
                </a:solidFill>
                <a:latin typeface="Poppins"/>
                <a:ea typeface="Poppins"/>
                <a:cs typeface="Poppins"/>
                <a:sym typeface="Poppins"/>
              </a:rPr>
              <a:t>e </a:t>
            </a:r>
            <a:r>
              <a:rPr i="1" lang="pt-BR">
                <a:solidFill>
                  <a:srgbClr val="202020"/>
                </a:solidFill>
                <a:latin typeface="Poppins"/>
                <a:ea typeface="Poppins"/>
                <a:cs typeface="Poppins"/>
                <a:sym typeface="Poppins"/>
              </a:rPr>
              <a:t>json_normalize </a:t>
            </a:r>
            <a:r>
              <a:rPr lang="pt-BR">
                <a:solidFill>
                  <a:srgbClr val="202020"/>
                </a:solidFill>
                <a:latin typeface="Poppins"/>
                <a:ea typeface="Poppins"/>
                <a:cs typeface="Poppins"/>
                <a:sym typeface="Poppins"/>
              </a:rPr>
              <a:t>do pandas.</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p:txBody>
      </p:sp>
      <p:sp>
        <p:nvSpPr>
          <p:cNvPr id="286" name="Google Shape;286;g3f5f0e60465_0_131"/>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Task 2 - </a:t>
            </a:r>
            <a:r>
              <a:rPr b="0" lang="pt-BR" sz="2200">
                <a:solidFill>
                  <a:srgbClr val="B41B26"/>
                </a:solidFill>
              </a:rPr>
              <a:t>O Desafio do </a:t>
            </a:r>
            <a:r>
              <a:rPr b="0" i="1" lang="pt-BR" sz="2200">
                <a:solidFill>
                  <a:srgbClr val="B41B26"/>
                </a:solidFill>
              </a:rPr>
              <a:t>Flattening </a:t>
            </a:r>
            <a:r>
              <a:rPr b="0" lang="pt-BR" sz="2200">
                <a:solidFill>
                  <a:srgbClr val="B41B26"/>
                </a:solidFill>
              </a:rPr>
              <a:t>de JSON</a:t>
            </a:r>
            <a:endParaRPr b="0" i="1" sz="2200">
              <a:solidFill>
                <a:srgbClr val="B41B2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f5f0e60465_0_138"/>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Antes de seguir, abra o arquivo de logs e analise visualmente seu conteúdo.</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Carregue os logs de navegação do App num </a:t>
            </a:r>
            <a:r>
              <a:rPr i="1" lang="pt-BR">
                <a:solidFill>
                  <a:srgbClr val="202020"/>
                </a:solidFill>
                <a:latin typeface="Poppins"/>
                <a:ea typeface="Poppins"/>
                <a:cs typeface="Poppins"/>
                <a:sym typeface="Poppins"/>
              </a:rPr>
              <a:t>dataset</a:t>
            </a:r>
            <a:r>
              <a:rPr lang="pt-BR">
                <a:solidFill>
                  <a:srgbClr val="202020"/>
                </a:solidFill>
                <a:latin typeface="Poppins"/>
                <a:ea typeface="Poppins"/>
                <a:cs typeface="Poppins"/>
                <a:sym typeface="Poppins"/>
              </a:rPr>
              <a:t>.</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Existe um problema nos dados: O JSON possui aninhamentos variáveis (devices, localizacao). Resolva isso utilizando </a:t>
            </a:r>
            <a:r>
              <a:rPr i="1" lang="pt-BR">
                <a:solidFill>
                  <a:srgbClr val="202020"/>
                </a:solidFill>
                <a:latin typeface="Poppins"/>
                <a:ea typeface="Poppins"/>
                <a:cs typeface="Poppins"/>
                <a:sym typeface="Poppins"/>
              </a:rPr>
              <a:t>flattening </a:t>
            </a:r>
            <a:r>
              <a:rPr lang="pt-BR">
                <a:solidFill>
                  <a:srgbClr val="202020"/>
                </a:solidFill>
                <a:latin typeface="Poppins"/>
                <a:ea typeface="Poppins"/>
                <a:cs typeface="Poppins"/>
                <a:sym typeface="Poppins"/>
              </a:rPr>
              <a:t>e </a:t>
            </a:r>
            <a:r>
              <a:rPr i="1" lang="pt-BR">
                <a:solidFill>
                  <a:srgbClr val="202020"/>
                </a:solidFill>
                <a:latin typeface="Poppins"/>
                <a:ea typeface="Poppins"/>
                <a:cs typeface="Poppins"/>
                <a:sym typeface="Poppins"/>
              </a:rPr>
              <a:t>json_normalize </a:t>
            </a:r>
            <a:r>
              <a:rPr lang="pt-BR">
                <a:solidFill>
                  <a:srgbClr val="202020"/>
                </a:solidFill>
                <a:latin typeface="Poppins"/>
                <a:ea typeface="Poppins"/>
                <a:cs typeface="Poppins"/>
                <a:sym typeface="Poppins"/>
              </a:rPr>
              <a:t>do pandas.</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p:txBody>
      </p:sp>
      <p:sp>
        <p:nvSpPr>
          <p:cNvPr id="292" name="Google Shape;292;g3f5f0e60465_0_138"/>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Task 2 - </a:t>
            </a:r>
            <a:r>
              <a:rPr b="0" lang="pt-BR" sz="2200">
                <a:solidFill>
                  <a:srgbClr val="B41B26"/>
                </a:solidFill>
              </a:rPr>
              <a:t>O Desafio do </a:t>
            </a:r>
            <a:r>
              <a:rPr b="0" i="1" lang="pt-BR" sz="2200">
                <a:solidFill>
                  <a:srgbClr val="B41B26"/>
                </a:solidFill>
              </a:rPr>
              <a:t>Flattening </a:t>
            </a:r>
            <a:r>
              <a:rPr b="0" lang="pt-BR" sz="2200">
                <a:solidFill>
                  <a:srgbClr val="B41B26"/>
                </a:solidFill>
              </a:rPr>
              <a:t>de JSON</a:t>
            </a:r>
            <a:endParaRPr b="0" i="1" sz="2200">
              <a:solidFill>
                <a:srgbClr val="B41B26"/>
              </a:solidFill>
            </a:endParaRPr>
          </a:p>
        </p:txBody>
      </p:sp>
      <p:pic>
        <p:nvPicPr>
          <p:cNvPr id="293" name="Google Shape;293;g3f5f0e60465_0_138"/>
          <p:cNvPicPr preferRelativeResize="0"/>
          <p:nvPr/>
        </p:nvPicPr>
        <p:blipFill>
          <a:blip r:embed="rId3">
            <a:alphaModFix/>
          </a:blip>
          <a:stretch>
            <a:fillRect/>
          </a:stretch>
        </p:blipFill>
        <p:spPr>
          <a:xfrm>
            <a:off x="3391328" y="2587825"/>
            <a:ext cx="7869799" cy="37020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f5f0e60465_0_144"/>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Carregue o csv com os comentários do Suporte ao Cliente.</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Faça uma busca textual para identificar os comentários com reclamações.</a:t>
            </a:r>
            <a:endParaRPr>
              <a:solidFill>
                <a:srgbClr val="202020"/>
              </a:solidFill>
              <a:latin typeface="Poppins"/>
              <a:ea typeface="Poppins"/>
              <a:cs typeface="Poppins"/>
              <a:sym typeface="Poppins"/>
            </a:endParaRPr>
          </a:p>
          <a:p>
            <a:pPr indent="-317500" lvl="1" marL="914400" rtl="0" algn="l">
              <a:lnSpc>
                <a:spcPct val="100000"/>
              </a:lnSpc>
              <a:spcBef>
                <a:spcPts val="0"/>
              </a:spcBef>
              <a:spcAft>
                <a:spcPts val="0"/>
              </a:spcAft>
              <a:buClr>
                <a:srgbClr val="202020"/>
              </a:buClr>
              <a:buSzPts val="1400"/>
              <a:buFont typeface="Poppins"/>
              <a:buAutoNum type="alphaLcPeriod"/>
            </a:pPr>
            <a:r>
              <a:rPr lang="pt-BR" sz="1400">
                <a:solidFill>
                  <a:srgbClr val="202020"/>
                </a:solidFill>
                <a:latin typeface="Poppins"/>
                <a:ea typeface="Poppins"/>
                <a:cs typeface="Poppins"/>
                <a:sym typeface="Poppins"/>
              </a:rPr>
              <a:t>Utilize as funções de string para verificar se contem termos comuns, como: “demora|entrega|atraso”.</a:t>
            </a:r>
            <a:endParaRPr sz="1400">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p:txBody>
      </p:sp>
      <p:sp>
        <p:nvSpPr>
          <p:cNvPr id="299" name="Google Shape;299;g3f5f0e60465_0_144"/>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Task 3 - </a:t>
            </a:r>
            <a:r>
              <a:rPr b="0" lang="pt-BR" sz="2200">
                <a:solidFill>
                  <a:srgbClr val="B41B26"/>
                </a:solidFill>
              </a:rPr>
              <a:t>Parsing de Dados Não Estruturados</a:t>
            </a:r>
            <a:endParaRPr b="0" i="1" sz="2200">
              <a:solidFill>
                <a:srgbClr val="B41B26"/>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6b07504a288e14c3_0"/>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Carregue o csv com os comentários do Suporte ao Cliente.</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AutoNum type="arabicPeriod"/>
            </a:pPr>
            <a:r>
              <a:rPr lang="pt-BR">
                <a:solidFill>
                  <a:srgbClr val="202020"/>
                </a:solidFill>
                <a:latin typeface="Poppins"/>
                <a:ea typeface="Poppins"/>
                <a:cs typeface="Poppins"/>
                <a:sym typeface="Poppins"/>
              </a:rPr>
              <a:t>Faça uma busca textual para identificar os comentários com reclamações.</a:t>
            </a:r>
            <a:endParaRPr>
              <a:solidFill>
                <a:srgbClr val="202020"/>
              </a:solidFill>
              <a:latin typeface="Poppins"/>
              <a:ea typeface="Poppins"/>
              <a:cs typeface="Poppins"/>
              <a:sym typeface="Poppins"/>
            </a:endParaRPr>
          </a:p>
          <a:p>
            <a:pPr indent="-317500" lvl="1" marL="914400" rtl="0" algn="l">
              <a:lnSpc>
                <a:spcPct val="100000"/>
              </a:lnSpc>
              <a:spcBef>
                <a:spcPts val="0"/>
              </a:spcBef>
              <a:spcAft>
                <a:spcPts val="0"/>
              </a:spcAft>
              <a:buClr>
                <a:srgbClr val="202020"/>
              </a:buClr>
              <a:buSzPts val="1400"/>
              <a:buFont typeface="Poppins"/>
              <a:buAutoNum type="alphaLcPeriod"/>
            </a:pPr>
            <a:r>
              <a:rPr lang="pt-BR" sz="1400">
                <a:solidFill>
                  <a:srgbClr val="202020"/>
                </a:solidFill>
                <a:latin typeface="Poppins"/>
                <a:ea typeface="Poppins"/>
                <a:cs typeface="Poppins"/>
                <a:sym typeface="Poppins"/>
              </a:rPr>
              <a:t>Utilize as funções de string para verificar se contem termos comuns, como: “demora|entrega|atraso”.</a:t>
            </a:r>
            <a:endParaRPr sz="1400">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p:txBody>
      </p:sp>
      <p:sp>
        <p:nvSpPr>
          <p:cNvPr id="305" name="Google Shape;305;g6b07504a288e14c3_0"/>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Task 3 - </a:t>
            </a:r>
            <a:r>
              <a:rPr b="0" lang="pt-BR" sz="2200">
                <a:solidFill>
                  <a:srgbClr val="B41B26"/>
                </a:solidFill>
              </a:rPr>
              <a:t>Parsing de Dados Não Estruturados</a:t>
            </a:r>
            <a:endParaRPr b="0" i="1" sz="2200">
              <a:solidFill>
                <a:srgbClr val="B41B26"/>
              </a:solidFill>
            </a:endParaRPr>
          </a:p>
        </p:txBody>
      </p:sp>
      <p:pic>
        <p:nvPicPr>
          <p:cNvPr id="306" name="Google Shape;306;g6b07504a288e14c3_0"/>
          <p:cNvPicPr preferRelativeResize="0"/>
          <p:nvPr/>
        </p:nvPicPr>
        <p:blipFill>
          <a:blip r:embed="rId3">
            <a:alphaModFix/>
          </a:blip>
          <a:stretch>
            <a:fillRect/>
          </a:stretch>
        </p:blipFill>
        <p:spPr>
          <a:xfrm>
            <a:off x="1920681" y="2648531"/>
            <a:ext cx="9291626" cy="3364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f5f0e60465_0_151"/>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2000">
                <a:solidFill>
                  <a:srgbClr val="B41B26"/>
                </a:solidFill>
                <a:latin typeface="Poppins"/>
                <a:ea typeface="Poppins"/>
                <a:cs typeface="Poppins"/>
                <a:sym typeface="Poppins"/>
              </a:rPr>
              <a:t>Resultados Encontrados Pelos Grupos: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Quais foram as principais dificuldades ao realizar o </a:t>
            </a:r>
            <a:r>
              <a:rPr b="1" i="1" lang="pt-BR">
                <a:solidFill>
                  <a:srgbClr val="202020"/>
                </a:solidFill>
                <a:latin typeface="Poppins"/>
                <a:ea typeface="Poppins"/>
                <a:cs typeface="Poppins"/>
                <a:sym typeface="Poppins"/>
              </a:rPr>
              <a:t>flattening </a:t>
            </a:r>
            <a:r>
              <a:rPr lang="pt-BR">
                <a:solidFill>
                  <a:srgbClr val="202020"/>
                </a:solidFill>
                <a:latin typeface="Poppins"/>
                <a:ea typeface="Poppins"/>
                <a:cs typeface="Poppins"/>
                <a:sym typeface="Poppins"/>
              </a:rPr>
              <a:t>(nivelamento) do JSON complexo da navegação do App? Quantas colunas foram geradas?</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Por que o processamento do arquivo de texto (Não Estruturado) consome tanta memória RAM do </a:t>
            </a:r>
            <a:r>
              <a:rPr i="1" lang="pt-BR">
                <a:solidFill>
                  <a:srgbClr val="202020"/>
                </a:solidFill>
                <a:latin typeface="Poppins"/>
                <a:ea typeface="Poppins"/>
                <a:cs typeface="Poppins"/>
                <a:sym typeface="Poppins"/>
              </a:rPr>
              <a:t>Pandas </a:t>
            </a:r>
            <a:r>
              <a:rPr lang="pt-BR">
                <a:solidFill>
                  <a:srgbClr val="202020"/>
                </a:solidFill>
                <a:latin typeface="Poppins"/>
                <a:ea typeface="Poppins"/>
                <a:cs typeface="Poppins"/>
                <a:sym typeface="Poppins"/>
              </a:rPr>
              <a:t>comparado a ler uma tabela SQL consolidada?</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rPr b="1" lang="pt-BR">
                <a:solidFill>
                  <a:srgbClr val="202020"/>
                </a:solidFill>
                <a:latin typeface="Poppins"/>
                <a:ea typeface="Poppins"/>
                <a:cs typeface="Poppins"/>
                <a:sym typeface="Poppins"/>
              </a:rPr>
              <a:t>De quem é a responsabilidade pela falta de visão unificada do cliente?</a:t>
            </a:r>
            <a:r>
              <a:rPr lang="pt-BR">
                <a:solidFill>
                  <a:srgbClr val="202020"/>
                </a:solidFill>
                <a:latin typeface="Poppins"/>
                <a:ea typeface="Poppins"/>
                <a:cs typeface="Poppins"/>
                <a:sym typeface="Poppins"/>
              </a:rPr>
              <a:t> A equipe de Engenharia (que insiste em ferramentas limitadas) ou da Arquitetura Informacional (que não adotou um Data Lake)? </a:t>
            </a:r>
            <a:endParaRPr i="1">
              <a:solidFill>
                <a:srgbClr val="202020"/>
              </a:solidFill>
              <a:latin typeface="Poppins"/>
              <a:ea typeface="Poppins"/>
              <a:cs typeface="Poppins"/>
              <a:sym typeface="Poppins"/>
            </a:endParaRPr>
          </a:p>
        </p:txBody>
      </p:sp>
      <p:sp>
        <p:nvSpPr>
          <p:cNvPr id="312" name="Google Shape;312;g3f5f0e60465_0_151"/>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Síntese e Discussão do Laboratório</a:t>
            </a:r>
            <a:endParaRPr b="0" i="1" sz="2200">
              <a:solidFill>
                <a:srgbClr val="B41B26"/>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f5f0e60465_0_157"/>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2000">
                <a:solidFill>
                  <a:srgbClr val="B41B26"/>
                </a:solidFill>
                <a:latin typeface="Poppins"/>
                <a:ea typeface="Poppins"/>
                <a:cs typeface="Poppins"/>
                <a:sym typeface="Poppins"/>
              </a:rPr>
              <a:t>Resultados Encontrados Pelos Grupos:</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Quais foram as principais dificuldades ao realizar o </a:t>
            </a:r>
            <a:r>
              <a:rPr b="1" i="1" lang="pt-BR">
                <a:solidFill>
                  <a:srgbClr val="202020"/>
                </a:solidFill>
                <a:latin typeface="Poppins"/>
                <a:ea typeface="Poppins"/>
                <a:cs typeface="Poppins"/>
                <a:sym typeface="Poppins"/>
              </a:rPr>
              <a:t>flattening </a:t>
            </a:r>
            <a:r>
              <a:rPr lang="pt-BR">
                <a:solidFill>
                  <a:srgbClr val="202020"/>
                </a:solidFill>
                <a:latin typeface="Poppins"/>
                <a:ea typeface="Poppins"/>
                <a:cs typeface="Poppins"/>
                <a:sym typeface="Poppins"/>
              </a:rPr>
              <a:t>(nivelamento) do JSON complexo da navegação do App? Quantas colunas foram geradas?</a:t>
            </a:r>
            <a:endParaRPr>
              <a:solidFill>
                <a:srgbClr val="202020"/>
              </a:solidFill>
              <a:latin typeface="Poppins"/>
              <a:ea typeface="Poppins"/>
              <a:cs typeface="Poppins"/>
              <a:sym typeface="Poppins"/>
            </a:endParaRPr>
          </a:p>
          <a:p>
            <a:pPr indent="-330200" lvl="0" marL="457200" rtl="0" algn="l">
              <a:lnSpc>
                <a:spcPct val="100000"/>
              </a:lnSpc>
              <a:spcBef>
                <a:spcPts val="0"/>
              </a:spcBef>
              <a:spcAft>
                <a:spcPts val="0"/>
              </a:spcAft>
              <a:buClr>
                <a:srgbClr val="202020"/>
              </a:buClr>
              <a:buSzPts val="1600"/>
              <a:buFont typeface="Poppins"/>
              <a:buChar char="●"/>
            </a:pPr>
            <a:r>
              <a:rPr lang="pt-BR">
                <a:solidFill>
                  <a:srgbClr val="202020"/>
                </a:solidFill>
                <a:latin typeface="Poppins"/>
                <a:ea typeface="Poppins"/>
                <a:cs typeface="Poppins"/>
                <a:sym typeface="Poppins"/>
              </a:rPr>
              <a:t>Por que o processamento do arquivo de texto (Não Estruturado) consome tanta memória RAM do </a:t>
            </a:r>
            <a:r>
              <a:rPr i="1" lang="pt-BR">
                <a:solidFill>
                  <a:srgbClr val="202020"/>
                </a:solidFill>
                <a:latin typeface="Poppins"/>
                <a:ea typeface="Poppins"/>
                <a:cs typeface="Poppins"/>
                <a:sym typeface="Poppins"/>
              </a:rPr>
              <a:t>Pandas </a:t>
            </a:r>
            <a:r>
              <a:rPr lang="pt-BR">
                <a:solidFill>
                  <a:srgbClr val="202020"/>
                </a:solidFill>
                <a:latin typeface="Poppins"/>
                <a:ea typeface="Poppins"/>
                <a:cs typeface="Poppins"/>
                <a:sym typeface="Poppins"/>
              </a:rPr>
              <a:t>comparado a ler uma tabela SQL consolidada?</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rPr b="1" lang="pt-BR">
                <a:solidFill>
                  <a:srgbClr val="202020"/>
                </a:solidFill>
                <a:latin typeface="Poppins"/>
                <a:ea typeface="Poppins"/>
                <a:cs typeface="Poppins"/>
                <a:sym typeface="Poppins"/>
              </a:rPr>
              <a:t>De quem é a responsabilidade pela falta de visão unificada do cliente?</a:t>
            </a:r>
            <a:r>
              <a:rPr lang="pt-BR">
                <a:solidFill>
                  <a:srgbClr val="202020"/>
                </a:solidFill>
                <a:latin typeface="Poppins"/>
                <a:ea typeface="Poppins"/>
                <a:cs typeface="Poppins"/>
                <a:sym typeface="Poppins"/>
              </a:rPr>
              <a:t> A equipe de Engenharia (que insiste em ferramentas limitadas) ou da Arquitetura Informacional (que não adotou um Data Lake)?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02020"/>
              </a:solidFill>
              <a:latin typeface="Poppins"/>
              <a:ea typeface="Poppins"/>
              <a:cs typeface="Poppins"/>
              <a:sym typeface="Poppins"/>
            </a:endParaRPr>
          </a:p>
          <a:p>
            <a:pPr indent="0" lvl="0" marL="0" rtl="0" algn="l">
              <a:lnSpc>
                <a:spcPct val="100000"/>
              </a:lnSpc>
              <a:spcBef>
                <a:spcPts val="0"/>
              </a:spcBef>
              <a:spcAft>
                <a:spcPts val="0"/>
              </a:spcAft>
              <a:buNone/>
            </a:pPr>
            <a:r>
              <a:rPr i="1" lang="pt-BR">
                <a:solidFill>
                  <a:srgbClr val="202020"/>
                </a:solidFill>
                <a:latin typeface="Poppins"/>
                <a:ea typeface="Poppins"/>
                <a:cs typeface="Poppins"/>
                <a:sym typeface="Poppins"/>
              </a:rPr>
              <a:t>Muitas vezes, a resposta é a governança sobre essas decisões corporativas.</a:t>
            </a:r>
            <a:endParaRPr i="1">
              <a:solidFill>
                <a:srgbClr val="202020"/>
              </a:solidFill>
              <a:latin typeface="Poppins"/>
              <a:ea typeface="Poppins"/>
              <a:cs typeface="Poppins"/>
              <a:sym typeface="Poppins"/>
            </a:endParaRPr>
          </a:p>
        </p:txBody>
      </p:sp>
      <p:sp>
        <p:nvSpPr>
          <p:cNvPr id="318" name="Google Shape;318;g3f5f0e60465_0_157"/>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Síntese e Discussão do Laboratório</a:t>
            </a:r>
            <a:endParaRPr b="0" i="1" sz="2200">
              <a:solidFill>
                <a:srgbClr val="B41B2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f5d31186fe_0_86"/>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r>
              <a:t/>
            </a:r>
            <a:endParaRPr/>
          </a:p>
          <a:p>
            <a:pPr indent="0" lvl="0" marL="450000" marR="929359" rtl="0" algn="just">
              <a:lnSpc>
                <a:spcPct val="100000"/>
              </a:lnSpc>
              <a:spcBef>
                <a:spcPts val="0"/>
              </a:spcBef>
              <a:spcAft>
                <a:spcPts val="0"/>
              </a:spcAft>
              <a:buSzPts val="1600"/>
              <a:buNone/>
            </a:pPr>
            <a:r>
              <a:rPr b="1" i="1" lang="pt-BR">
                <a:solidFill>
                  <a:srgbClr val="202020"/>
                </a:solidFill>
                <a:latin typeface="Poppins"/>
                <a:ea typeface="Poppins"/>
                <a:cs typeface="Poppins"/>
                <a:sym typeface="Poppins"/>
              </a:rPr>
              <a:t>"A verdadeira inovação nos negócios começa quando fazemos as perguntas certas aos nossos dados."</a:t>
            </a:r>
            <a:endParaRPr b="1" i="1">
              <a:solidFill>
                <a:srgbClr val="202020"/>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a:solidFill>
                <a:srgbClr val="202020"/>
              </a:solidFill>
            </a:endParaRPr>
          </a:p>
          <a:p>
            <a:pPr indent="0" lvl="0" marL="0" marR="929359" rtl="0" algn="just">
              <a:lnSpc>
                <a:spcPct val="100000"/>
              </a:lnSpc>
              <a:spcBef>
                <a:spcPts val="0"/>
              </a:spcBef>
              <a:spcAft>
                <a:spcPts val="0"/>
              </a:spcAft>
              <a:buSzPts val="1600"/>
              <a:buNone/>
            </a:pPr>
            <a:r>
              <a:t/>
            </a:r>
            <a:endParaRPr b="1">
              <a:solidFill>
                <a:srgbClr val="B41B26"/>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rPr b="1" lang="pt-BR">
                <a:solidFill>
                  <a:srgbClr val="B41B26"/>
                </a:solidFill>
                <a:latin typeface="Poppins"/>
                <a:ea typeface="Poppins"/>
                <a:cs typeface="Poppins"/>
                <a:sym typeface="Poppins"/>
              </a:rPr>
              <a:t>Fim da Aula 01!</a:t>
            </a:r>
            <a:endParaRPr b="1">
              <a:solidFill>
                <a:srgbClr val="B41B26"/>
              </a:solidFill>
              <a:latin typeface="Poppins"/>
              <a:ea typeface="Poppins"/>
              <a:cs typeface="Poppins"/>
              <a:sym typeface="Poppins"/>
            </a:endParaRPr>
          </a:p>
          <a:p>
            <a:pPr indent="0" lvl="0" marL="0" marR="929359" rtl="0" algn="just">
              <a:lnSpc>
                <a:spcPct val="100000"/>
              </a:lnSpc>
              <a:spcBef>
                <a:spcPts val="0"/>
              </a:spcBef>
              <a:spcAft>
                <a:spcPts val="0"/>
              </a:spcAft>
              <a:buSzPts val="1600"/>
              <a:buNone/>
            </a:pPr>
            <a:r>
              <a:t/>
            </a:r>
            <a:endParaRPr b="1">
              <a:solidFill>
                <a:srgbClr val="B41B26"/>
              </a:solidFill>
              <a:latin typeface="Poppins"/>
              <a:ea typeface="Poppins"/>
              <a:cs typeface="Poppins"/>
              <a:sym typeface="Poppins"/>
            </a:endParaRPr>
          </a:p>
          <a:p>
            <a:pPr indent="-330200" lvl="0" marL="457200" marR="929359" rtl="0" algn="just">
              <a:lnSpc>
                <a:spcPct val="100000"/>
              </a:lnSpc>
              <a:spcBef>
                <a:spcPts val="0"/>
              </a:spcBef>
              <a:spcAft>
                <a:spcPts val="0"/>
              </a:spcAft>
              <a:buClr>
                <a:srgbClr val="202020"/>
              </a:buClr>
              <a:buSzPts val="1600"/>
              <a:buFont typeface="Poppins Light"/>
              <a:buChar char="●"/>
            </a:pPr>
            <a:r>
              <a:rPr lang="pt-BR">
                <a:solidFill>
                  <a:srgbClr val="202020"/>
                </a:solidFill>
              </a:rPr>
              <a:t>Lembrem-se de instalar os pacotes Python recomendados para o lab da próxima aula.</a:t>
            </a:r>
            <a:endParaRPr>
              <a:solidFill>
                <a:srgbClr val="202020"/>
              </a:solidFill>
            </a:endParaRPr>
          </a:p>
          <a:p>
            <a:pPr indent="-330200" lvl="0" marL="457200" marR="929359" rtl="0" algn="just">
              <a:lnSpc>
                <a:spcPct val="100000"/>
              </a:lnSpc>
              <a:spcBef>
                <a:spcPts val="0"/>
              </a:spcBef>
              <a:spcAft>
                <a:spcPts val="0"/>
              </a:spcAft>
              <a:buClr>
                <a:srgbClr val="202020"/>
              </a:buClr>
              <a:buSzPts val="1600"/>
              <a:buFont typeface="Poppins Light"/>
              <a:buChar char="●"/>
            </a:pPr>
            <a:r>
              <a:rPr lang="pt-BR">
                <a:solidFill>
                  <a:srgbClr val="202020"/>
                </a:solidFill>
              </a:rPr>
              <a:t>Disponibilizarei o código da Busca Ingênua no repositório da disciplina.</a:t>
            </a:r>
            <a:endParaRPr>
              <a:solidFill>
                <a:srgbClr val="202020"/>
              </a:solidFill>
            </a:endParaRPr>
          </a:p>
          <a:p>
            <a:pPr indent="0" lvl="0" marL="0" marR="929359" rtl="0" algn="just">
              <a:lnSpc>
                <a:spcPct val="100000"/>
              </a:lnSpc>
              <a:spcBef>
                <a:spcPts val="0"/>
              </a:spcBef>
              <a:spcAft>
                <a:spcPts val="0"/>
              </a:spcAft>
              <a:buSzPts val="1600"/>
              <a:buNone/>
            </a:pPr>
            <a:r>
              <a:t/>
            </a:r>
            <a:endParaRPr b="1">
              <a:solidFill>
                <a:srgbClr val="B41B26"/>
              </a:solidFill>
              <a:latin typeface="Poppins"/>
              <a:ea typeface="Poppins"/>
              <a:cs typeface="Poppins"/>
              <a:sym typeface="Poppins"/>
            </a:endParaRPr>
          </a:p>
        </p:txBody>
      </p:sp>
      <p:sp>
        <p:nvSpPr>
          <p:cNvPr id="324" name="Google Shape;324;g3f5d31186fe_0_86"/>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Dúvidas e Encerramento</a:t>
            </a:r>
            <a:endParaRPr sz="2200">
              <a:solidFill>
                <a:srgbClr val="B41B26"/>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f5f0e60465_0_162"/>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2000">
                <a:solidFill>
                  <a:srgbClr val="B41B26"/>
                </a:solidFill>
                <a:latin typeface="Poppins"/>
                <a:ea typeface="Poppins"/>
                <a:cs typeface="Poppins"/>
                <a:sym typeface="Poppins"/>
              </a:rPr>
              <a:t>A Arquitetura de Dados Correta:</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None/>
            </a:pPr>
            <a:r>
              <a:t/>
            </a:r>
            <a:endParaRPr b="1" sz="2000">
              <a:solidFill>
                <a:srgbClr val="B41B26"/>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ERP (SQL): </a:t>
            </a:r>
            <a:r>
              <a:rPr lang="pt-BR">
                <a:solidFill>
                  <a:srgbClr val="3B3B3B"/>
                </a:solidFill>
                <a:latin typeface="Poppins"/>
                <a:ea typeface="Poppins"/>
                <a:cs typeface="Poppins"/>
                <a:sym typeface="Poppins"/>
              </a:rPr>
              <a:t>Continua sendo o núcleo para as Vendas e Transações, garantindo a integridade contábil. Mas os dados devem ser copiados via ingestão batch.</a:t>
            </a:r>
            <a:endParaRPr>
              <a:solidFill>
                <a:srgbClr val="3B3B3B"/>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App (JSON): </a:t>
            </a:r>
            <a:r>
              <a:rPr lang="pt-BR">
                <a:solidFill>
                  <a:srgbClr val="3B3B3B"/>
                </a:solidFill>
                <a:latin typeface="Poppins"/>
                <a:ea typeface="Poppins"/>
                <a:cs typeface="Poppins"/>
                <a:sym typeface="Poppins"/>
              </a:rPr>
              <a:t>Os logs devem ser armazenados de forma nativa e comprimida em </a:t>
            </a:r>
            <a:r>
              <a:rPr i="1" lang="pt-BR">
                <a:solidFill>
                  <a:srgbClr val="3B3B3B"/>
                </a:solidFill>
                <a:latin typeface="Poppins"/>
                <a:ea typeface="Poppins"/>
                <a:cs typeface="Poppins"/>
                <a:sym typeface="Poppins"/>
              </a:rPr>
              <a:t>Object Storage (Data Lake)</a:t>
            </a:r>
            <a:r>
              <a:rPr lang="pt-BR">
                <a:solidFill>
                  <a:srgbClr val="3B3B3B"/>
                </a:solidFill>
                <a:latin typeface="Poppins"/>
                <a:ea typeface="Poppins"/>
                <a:cs typeface="Poppins"/>
                <a:sym typeface="Poppins"/>
              </a:rPr>
              <a:t>, longe dos bancos de dados caros de transações. Processamentos pontuais com </a:t>
            </a:r>
            <a:r>
              <a:rPr i="1" lang="pt-BR">
                <a:solidFill>
                  <a:srgbClr val="3B3B3B"/>
                </a:solidFill>
                <a:latin typeface="Poppins"/>
                <a:ea typeface="Poppins"/>
                <a:cs typeface="Poppins"/>
                <a:sym typeface="Poppins"/>
              </a:rPr>
              <a:t>Apache Spark</a:t>
            </a:r>
            <a:r>
              <a:rPr lang="pt-BR">
                <a:solidFill>
                  <a:srgbClr val="3B3B3B"/>
                </a:solidFill>
                <a:latin typeface="Poppins"/>
                <a:ea typeface="Poppins"/>
                <a:cs typeface="Poppins"/>
                <a:sym typeface="Poppins"/>
              </a:rPr>
              <a:t> transformam esse JSON em tabelas analíticas apenas quando há necessidade.</a:t>
            </a:r>
            <a:endParaRPr>
              <a:solidFill>
                <a:srgbClr val="3B3B3B"/>
              </a:solidFill>
              <a:latin typeface="Poppins"/>
              <a:ea typeface="Poppins"/>
              <a:cs typeface="Poppins"/>
              <a:sym typeface="Poppins"/>
            </a:endParaRPr>
          </a:p>
          <a:p>
            <a:pPr indent="-330200" lvl="0" marL="457200" rtl="0" algn="l">
              <a:lnSpc>
                <a:spcPct val="100000"/>
              </a:lnSpc>
              <a:spcBef>
                <a:spcPts val="0"/>
              </a:spcBef>
              <a:spcAft>
                <a:spcPts val="0"/>
              </a:spcAft>
              <a:buClr>
                <a:srgbClr val="B41B26"/>
              </a:buClr>
              <a:buSzPts val="1600"/>
              <a:buFont typeface="Poppins"/>
              <a:buChar char="●"/>
            </a:pPr>
            <a:r>
              <a:rPr b="1" lang="pt-BR">
                <a:solidFill>
                  <a:srgbClr val="B41B26"/>
                </a:solidFill>
                <a:latin typeface="Poppins"/>
                <a:ea typeface="Poppins"/>
                <a:cs typeface="Poppins"/>
                <a:sym typeface="Poppins"/>
              </a:rPr>
              <a:t>Reclamações (Textos Livres): </a:t>
            </a:r>
            <a:r>
              <a:rPr lang="pt-BR">
                <a:solidFill>
                  <a:srgbClr val="3B3B3B"/>
                </a:solidFill>
                <a:latin typeface="Poppins"/>
                <a:ea typeface="Poppins"/>
                <a:cs typeface="Poppins"/>
                <a:sym typeface="Poppins"/>
              </a:rPr>
              <a:t>Passam por pipelines de </a:t>
            </a:r>
            <a:r>
              <a:rPr i="1" lang="pt-BR">
                <a:solidFill>
                  <a:srgbClr val="3B3B3B"/>
                </a:solidFill>
                <a:latin typeface="Poppins"/>
                <a:ea typeface="Poppins"/>
                <a:cs typeface="Poppins"/>
                <a:sym typeface="Poppins"/>
              </a:rPr>
              <a:t>Machine Learning (NLP)</a:t>
            </a:r>
            <a:r>
              <a:rPr lang="pt-BR">
                <a:solidFill>
                  <a:srgbClr val="3B3B3B"/>
                </a:solidFill>
                <a:latin typeface="Poppins"/>
                <a:ea typeface="Poppins"/>
                <a:cs typeface="Poppins"/>
                <a:sym typeface="Poppins"/>
              </a:rPr>
              <a:t> para extrair o sentimento e as palavras-chaves de negócio, salvando esse novo dado estruturado no </a:t>
            </a:r>
            <a:r>
              <a:rPr i="1" lang="pt-BR">
                <a:solidFill>
                  <a:srgbClr val="3B3B3B"/>
                </a:solidFill>
                <a:latin typeface="Poppins"/>
                <a:ea typeface="Poppins"/>
                <a:cs typeface="Poppins"/>
                <a:sym typeface="Poppins"/>
              </a:rPr>
              <a:t>Data Lake</a:t>
            </a:r>
            <a:r>
              <a:rPr lang="pt-BR">
                <a:solidFill>
                  <a:srgbClr val="3B3B3B"/>
                </a:solidFill>
                <a:latin typeface="Poppins"/>
                <a:ea typeface="Poppins"/>
                <a:cs typeface="Poppins"/>
                <a:sym typeface="Poppins"/>
              </a:rPr>
              <a:t> e criando a conexão direta com o ID do Cliente do ERP.</a:t>
            </a:r>
            <a:endParaRPr>
              <a:solidFill>
                <a:srgbClr val="3B3B3B"/>
              </a:solidFill>
              <a:latin typeface="Poppins"/>
              <a:ea typeface="Poppins"/>
              <a:cs typeface="Poppins"/>
              <a:sym typeface="Poppins"/>
            </a:endParaRPr>
          </a:p>
        </p:txBody>
      </p:sp>
      <p:sp>
        <p:nvSpPr>
          <p:cNvPr id="330" name="Google Shape;330;g3f5f0e60465_0_162"/>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Solucionando a Dor de R$ 500 Mil / Mês</a:t>
            </a:r>
            <a:endParaRPr b="0" i="1" sz="2200">
              <a:solidFill>
                <a:srgbClr val="B41B26"/>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f5f0e60465_0_167"/>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2000">
                <a:solidFill>
                  <a:srgbClr val="B41B26"/>
                </a:solidFill>
                <a:latin typeface="Poppins"/>
                <a:ea typeface="Poppins"/>
                <a:cs typeface="Poppins"/>
                <a:sym typeface="Poppins"/>
              </a:rPr>
              <a:t>O que levar desta aula:</a:t>
            </a:r>
            <a:endParaRPr b="1" sz="2000">
              <a:solidFill>
                <a:srgbClr val="B41B26"/>
              </a:solidFill>
              <a:latin typeface="Poppins"/>
              <a:ea typeface="Poppins"/>
              <a:cs typeface="Poppins"/>
              <a:sym typeface="Poppins"/>
            </a:endParaRPr>
          </a:p>
          <a:p>
            <a:pPr indent="0" lvl="0" marL="0" rtl="0" algn="l">
              <a:lnSpc>
                <a:spcPct val="100000"/>
              </a:lnSpc>
              <a:spcBef>
                <a:spcPts val="0"/>
              </a:spcBef>
              <a:spcAft>
                <a:spcPts val="0"/>
              </a:spcAft>
              <a:buNone/>
            </a:pPr>
            <a:r>
              <a:t/>
            </a:r>
            <a:endParaRPr b="1" sz="2000">
              <a:solidFill>
                <a:srgbClr val="B41B26"/>
              </a:solidFill>
              <a:latin typeface="Poppins"/>
              <a:ea typeface="Poppins"/>
              <a:cs typeface="Poppins"/>
              <a:sym typeface="Poppins"/>
            </a:endParaRPr>
          </a:p>
          <a:p>
            <a:pPr indent="-330200" lvl="0" marL="457200" rtl="0" algn="just">
              <a:lnSpc>
                <a:spcPct val="100000"/>
              </a:lnSpc>
              <a:spcBef>
                <a:spcPts val="0"/>
              </a:spcBef>
              <a:spcAft>
                <a:spcPts val="0"/>
              </a:spcAft>
              <a:buClr>
                <a:srgbClr val="B41B26"/>
              </a:buClr>
              <a:buSzPts val="1600"/>
              <a:buFont typeface="Poppins"/>
              <a:buAutoNum type="arabicPeriod"/>
            </a:pPr>
            <a:r>
              <a:rPr b="1" lang="pt-BR" sz="1600">
                <a:solidFill>
                  <a:srgbClr val="B41B26"/>
                </a:solidFill>
                <a:latin typeface="Poppins"/>
                <a:ea typeface="Poppins"/>
                <a:cs typeface="Poppins"/>
                <a:sym typeface="Poppins"/>
              </a:rPr>
              <a:t>Tipologia de Dados Dita a Infraestrutura: </a:t>
            </a:r>
            <a:r>
              <a:rPr lang="pt-BR" sz="1600">
                <a:solidFill>
                  <a:srgbClr val="3B3B3B"/>
                </a:solidFill>
                <a:latin typeface="Poppins"/>
                <a:ea typeface="Poppins"/>
                <a:cs typeface="Poppins"/>
                <a:sym typeface="Poppins"/>
              </a:rPr>
              <a:t>Bancos SQL (Estruturados) resolvem transações urgentes com segurança, mas falham e são caros demais para escalar análises variadas em massa (Logs JSON/Textos).</a:t>
            </a:r>
            <a:endParaRPr sz="1600">
              <a:solidFill>
                <a:srgbClr val="3B3B3B"/>
              </a:solidFill>
              <a:latin typeface="Poppins"/>
              <a:ea typeface="Poppins"/>
              <a:cs typeface="Poppins"/>
              <a:sym typeface="Poppins"/>
            </a:endParaRPr>
          </a:p>
          <a:p>
            <a:pPr indent="-330200" lvl="0" marL="457200" rtl="0" algn="just">
              <a:lnSpc>
                <a:spcPct val="100000"/>
              </a:lnSpc>
              <a:spcBef>
                <a:spcPts val="0"/>
              </a:spcBef>
              <a:spcAft>
                <a:spcPts val="0"/>
              </a:spcAft>
              <a:buClr>
                <a:srgbClr val="B41B26"/>
              </a:buClr>
              <a:buSzPts val="1600"/>
              <a:buFont typeface="Poppins"/>
              <a:buAutoNum type="arabicPeriod"/>
            </a:pPr>
            <a:r>
              <a:rPr b="1" lang="pt-BR" sz="1600">
                <a:solidFill>
                  <a:srgbClr val="B41B26"/>
                </a:solidFill>
                <a:latin typeface="Poppins"/>
                <a:ea typeface="Poppins"/>
                <a:cs typeface="Poppins"/>
                <a:sym typeface="Poppins"/>
              </a:rPr>
              <a:t>Schema-on-Write vs Read: </a:t>
            </a:r>
            <a:r>
              <a:rPr lang="pt-BR" sz="1600">
                <a:solidFill>
                  <a:srgbClr val="3B3B3B"/>
                </a:solidFill>
                <a:latin typeface="Poppins"/>
                <a:ea typeface="Poppins"/>
                <a:cs typeface="Poppins"/>
                <a:sym typeface="Poppins"/>
              </a:rPr>
              <a:t>Validar dados na escrita atrasa processos de ingestão, mas garante organização extrema. Validar apenas na leitura acelera o acúmulo de dados (</a:t>
            </a:r>
            <a:r>
              <a:rPr i="1" lang="pt-BR" sz="1600">
                <a:solidFill>
                  <a:srgbClr val="3B3B3B"/>
                </a:solidFill>
                <a:latin typeface="Poppins"/>
                <a:ea typeface="Poppins"/>
                <a:cs typeface="Poppins"/>
                <a:sym typeface="Poppins"/>
              </a:rPr>
              <a:t>Data Lake</a:t>
            </a:r>
            <a:r>
              <a:rPr lang="pt-BR" sz="1600">
                <a:solidFill>
                  <a:srgbClr val="3B3B3B"/>
                </a:solidFill>
                <a:latin typeface="Poppins"/>
                <a:ea typeface="Poppins"/>
                <a:cs typeface="Poppins"/>
                <a:sym typeface="Poppins"/>
              </a:rPr>
              <a:t>), mas exige engenharia pesada no consumo e governança.</a:t>
            </a:r>
            <a:endParaRPr sz="1600">
              <a:solidFill>
                <a:srgbClr val="3B3B3B"/>
              </a:solidFill>
              <a:latin typeface="Poppins"/>
              <a:ea typeface="Poppins"/>
              <a:cs typeface="Poppins"/>
              <a:sym typeface="Poppins"/>
            </a:endParaRPr>
          </a:p>
          <a:p>
            <a:pPr indent="-330200" lvl="0" marL="457200" rtl="0" algn="just">
              <a:lnSpc>
                <a:spcPct val="100000"/>
              </a:lnSpc>
              <a:spcBef>
                <a:spcPts val="0"/>
              </a:spcBef>
              <a:spcAft>
                <a:spcPts val="0"/>
              </a:spcAft>
              <a:buClr>
                <a:srgbClr val="B41B26"/>
              </a:buClr>
              <a:buSzPts val="1600"/>
              <a:buFont typeface="Poppins"/>
              <a:buAutoNum type="arabicPeriod"/>
            </a:pPr>
            <a:r>
              <a:rPr b="1" lang="pt-BR" sz="1600">
                <a:solidFill>
                  <a:srgbClr val="B41B26"/>
                </a:solidFill>
                <a:latin typeface="Poppins"/>
                <a:ea typeface="Poppins"/>
                <a:cs typeface="Poppins"/>
                <a:sym typeface="Poppins"/>
              </a:rPr>
              <a:t>Data Swamp: </a:t>
            </a:r>
            <a:r>
              <a:rPr lang="pt-BR" sz="1600">
                <a:solidFill>
                  <a:srgbClr val="3B3B3B"/>
                </a:solidFill>
                <a:latin typeface="Poppins"/>
                <a:ea typeface="Poppins"/>
                <a:cs typeface="Poppins"/>
                <a:sym typeface="Poppins"/>
              </a:rPr>
              <a:t>Armazenar dados sem organização ou rastreabilidade custa menos disco, mas onera fatalmente a camada humana da corporação (Cientistas de Dados viram meros "extratores de dados").</a:t>
            </a:r>
            <a:endParaRPr sz="1600">
              <a:solidFill>
                <a:srgbClr val="3B3B3B"/>
              </a:solidFill>
              <a:latin typeface="Poppins"/>
              <a:ea typeface="Poppins"/>
              <a:cs typeface="Poppins"/>
              <a:sym typeface="Poppins"/>
            </a:endParaRPr>
          </a:p>
        </p:txBody>
      </p:sp>
      <p:sp>
        <p:nvSpPr>
          <p:cNvPr id="336" name="Google Shape;336;g3f5f0e60465_0_167"/>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3 Takeaways de Negócios (Resumo Executivo)</a:t>
            </a:r>
            <a:endParaRPr b="0" i="1" sz="2200">
              <a:solidFill>
                <a:srgbClr val="B41B26"/>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f5f0e60465_0_172"/>
          <p:cNvSpPr txBox="1"/>
          <p:nvPr>
            <p:ph idx="1" type="subTitle"/>
          </p:nvPr>
        </p:nvSpPr>
        <p:spPr>
          <a:xfrm>
            <a:off x="969034" y="1468581"/>
            <a:ext cx="10292100" cy="44427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None/>
            </a:pPr>
            <a:r>
              <a:rPr b="1" lang="pt-BR" sz="2000">
                <a:solidFill>
                  <a:srgbClr val="B41B26"/>
                </a:solidFill>
                <a:latin typeface="Poppins"/>
                <a:ea typeface="Poppins"/>
                <a:cs typeface="Poppins"/>
                <a:sym typeface="Poppins"/>
              </a:rPr>
              <a:t>Assuntos da próxima aula:</a:t>
            </a:r>
            <a:endParaRPr b="1" sz="2000">
              <a:solidFill>
                <a:srgbClr val="B41B26"/>
              </a:solidFill>
              <a:latin typeface="Poppins"/>
              <a:ea typeface="Poppins"/>
              <a:cs typeface="Poppins"/>
              <a:sym typeface="Poppins"/>
            </a:endParaRPr>
          </a:p>
          <a:p>
            <a:pPr indent="0" lvl="0" marL="0" rtl="0" algn="just">
              <a:lnSpc>
                <a:spcPct val="100000"/>
              </a:lnSpc>
              <a:spcBef>
                <a:spcPts val="0"/>
              </a:spcBef>
              <a:spcAft>
                <a:spcPts val="0"/>
              </a:spcAft>
              <a:buNone/>
            </a:pPr>
            <a:r>
              <a:t/>
            </a:r>
            <a:endParaRPr b="1" sz="2000">
              <a:solidFill>
                <a:srgbClr val="B41B26"/>
              </a:solidFill>
              <a:latin typeface="Poppins"/>
              <a:ea typeface="Poppins"/>
              <a:cs typeface="Poppins"/>
              <a:sym typeface="Poppins"/>
            </a:endParaRPr>
          </a:p>
          <a:p>
            <a:pPr indent="-330200" lvl="0" marL="457200" rtl="0" algn="just">
              <a:lnSpc>
                <a:spcPct val="100000"/>
              </a:lnSpc>
              <a:spcBef>
                <a:spcPts val="0"/>
              </a:spcBef>
              <a:spcAft>
                <a:spcPts val="0"/>
              </a:spcAft>
              <a:buClr>
                <a:srgbClr val="B41B26"/>
              </a:buClr>
              <a:buSzPts val="1600"/>
              <a:buFont typeface="Poppins"/>
              <a:buChar char="●"/>
            </a:pPr>
            <a:r>
              <a:rPr b="1" lang="pt-BR" sz="2000">
                <a:solidFill>
                  <a:srgbClr val="B41B26"/>
                </a:solidFill>
                <a:latin typeface="Poppins"/>
                <a:ea typeface="Poppins"/>
                <a:cs typeface="Poppins"/>
                <a:sym typeface="Poppins"/>
              </a:rPr>
              <a:t>Compreendemos de forma teórica e na prática (via Python) as diferenças das três grandes tipologias, a pergunta é: </a:t>
            </a:r>
            <a:r>
              <a:rPr i="1" lang="pt-BR" sz="2000">
                <a:solidFill>
                  <a:srgbClr val="3B3B3B"/>
                </a:solidFill>
                <a:latin typeface="Poppins"/>
                <a:ea typeface="Poppins"/>
                <a:cs typeface="Poppins"/>
                <a:sym typeface="Poppins"/>
              </a:rPr>
              <a:t>Qual formato físico de arquivo devemos escolher para salvar TERABYTES de dados no Data Lake, pagando o menor custo de armazenamento possível na AWS ou Azure?</a:t>
            </a:r>
            <a:endParaRPr i="1" sz="2000">
              <a:solidFill>
                <a:srgbClr val="3B3B3B"/>
              </a:solidFill>
              <a:latin typeface="Poppins"/>
              <a:ea typeface="Poppins"/>
              <a:cs typeface="Poppins"/>
              <a:sym typeface="Poppins"/>
            </a:endParaRPr>
          </a:p>
          <a:p>
            <a:pPr indent="0" lvl="0" marL="0" rtl="0" algn="just">
              <a:lnSpc>
                <a:spcPct val="100000"/>
              </a:lnSpc>
              <a:spcBef>
                <a:spcPts val="0"/>
              </a:spcBef>
              <a:spcAft>
                <a:spcPts val="0"/>
              </a:spcAft>
              <a:buNone/>
            </a:pPr>
            <a:r>
              <a:t/>
            </a:r>
            <a:endParaRPr b="1" sz="2000">
              <a:solidFill>
                <a:srgbClr val="3B3B3B"/>
              </a:solidFill>
              <a:latin typeface="Poppins"/>
              <a:ea typeface="Poppins"/>
              <a:cs typeface="Poppins"/>
              <a:sym typeface="Poppins"/>
            </a:endParaRPr>
          </a:p>
          <a:p>
            <a:pPr indent="-330200" lvl="0" marL="457200" rtl="0" algn="just">
              <a:lnSpc>
                <a:spcPct val="100000"/>
              </a:lnSpc>
              <a:spcBef>
                <a:spcPts val="0"/>
              </a:spcBef>
              <a:spcAft>
                <a:spcPts val="0"/>
              </a:spcAft>
              <a:buClr>
                <a:srgbClr val="B41B26"/>
              </a:buClr>
              <a:buSzPts val="1600"/>
              <a:buFont typeface="Poppins"/>
              <a:buChar char="●"/>
            </a:pPr>
            <a:r>
              <a:rPr b="1" lang="pt-BR" sz="2000">
                <a:solidFill>
                  <a:srgbClr val="B41B26"/>
                </a:solidFill>
                <a:latin typeface="Poppins"/>
                <a:ea typeface="Poppins"/>
                <a:cs typeface="Poppins"/>
                <a:sym typeface="Poppins"/>
              </a:rPr>
              <a:t>Na Aula 02: </a:t>
            </a:r>
            <a:r>
              <a:rPr lang="pt-BR" sz="2000">
                <a:solidFill>
                  <a:srgbClr val="3B3B3B"/>
                </a:solidFill>
                <a:latin typeface="Poppins"/>
                <a:ea typeface="Poppins"/>
                <a:cs typeface="Poppins"/>
                <a:sym typeface="Poppins"/>
              </a:rPr>
              <a:t>Faremos testes de estresse, compressão em disco e velocidade de leitura. A Batalha dos Formatos: JSON, XML, CSV, Parquet e Avro.</a:t>
            </a:r>
            <a:endParaRPr sz="2000">
              <a:solidFill>
                <a:srgbClr val="3B3B3B"/>
              </a:solidFill>
              <a:latin typeface="Poppins"/>
              <a:ea typeface="Poppins"/>
              <a:cs typeface="Poppins"/>
              <a:sym typeface="Poppins"/>
            </a:endParaRPr>
          </a:p>
        </p:txBody>
      </p:sp>
      <p:sp>
        <p:nvSpPr>
          <p:cNvPr id="342" name="Google Shape;342;g3f5f0e60465_0_172"/>
          <p:cNvSpPr txBox="1"/>
          <p:nvPr>
            <p:ph idx="2" type="body"/>
          </p:nvPr>
        </p:nvSpPr>
        <p:spPr>
          <a:xfrm>
            <a:off x="969035" y="704850"/>
            <a:ext cx="8327400" cy="50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pt-BR" sz="2200">
                <a:solidFill>
                  <a:srgbClr val="B41B26"/>
                </a:solidFill>
              </a:rPr>
              <a:t>Teaser para a Aula 02</a:t>
            </a:r>
            <a:endParaRPr b="0" i="1" sz="2200">
              <a:solidFill>
                <a:srgbClr val="B41B26"/>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2023-12-21T18:31:02Z</dcterms:created>
  <dc:creator>Ester Margotto Montebeler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0x0101008C19AB3E6619E54BB6D98946A8919BCB</vt:lpwstr>
  </property>
  <property fmtid="{D5CDD505-2E9C-101B-9397-08002B2CF9AE}" pid="3" name="MediaServiceImageTags">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