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Poppins Light"/>
      <p:regular r:id="rId31"/>
      <p:bold r:id="rId32"/>
      <p:italic r:id="rId33"/>
      <p:boldItalic r:id="rId34"/>
    </p:embeddedFont>
    <p:embeddedFont>
      <p:font typeface="Poppins SemiBold"/>
      <p:regular r:id="rId35"/>
      <p:bold r:id="rId36"/>
      <p:italic r:id="rId37"/>
      <p:boldItalic r:id="rId38"/>
    </p:embeddedFont>
    <p:embeddedFont>
      <p:font typeface="Poppins ExtraLigh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hVxxOo25yk8JAWvVeolN8IWJqI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ExtraLight-bold.fntdata"/><Relationship Id="rId20" Type="http://schemas.openxmlformats.org/officeDocument/2006/relationships/slide" Target="slides/slide16.xml"/><Relationship Id="rId42" Type="http://schemas.openxmlformats.org/officeDocument/2006/relationships/font" Target="fonts/PoppinsExtraLight-boldItalic.fntdata"/><Relationship Id="rId41" Type="http://schemas.openxmlformats.org/officeDocument/2006/relationships/font" Target="fonts/PoppinsExtraLight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customschemas.google.com/relationships/presentationmetadata" Target="meta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Light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7.xml"/><Relationship Id="rId33" Type="http://schemas.openxmlformats.org/officeDocument/2006/relationships/font" Target="fonts/PoppinsLight-italic.fntdata"/><Relationship Id="rId10" Type="http://schemas.openxmlformats.org/officeDocument/2006/relationships/slide" Target="slides/slide6.xml"/><Relationship Id="rId32" Type="http://schemas.openxmlformats.org/officeDocument/2006/relationships/font" Target="fonts/PoppinsLight-bold.fntdata"/><Relationship Id="rId13" Type="http://schemas.openxmlformats.org/officeDocument/2006/relationships/slide" Target="slides/slide9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8.xml"/><Relationship Id="rId34" Type="http://schemas.openxmlformats.org/officeDocument/2006/relationships/font" Target="fonts/PoppinsLight-boldItalic.fntdata"/><Relationship Id="rId15" Type="http://schemas.openxmlformats.org/officeDocument/2006/relationships/slide" Target="slides/slide11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10.xml"/><Relationship Id="rId36" Type="http://schemas.openxmlformats.org/officeDocument/2006/relationships/font" Target="fonts/PoppinsSemiBold-bold.fntdata"/><Relationship Id="rId17" Type="http://schemas.openxmlformats.org/officeDocument/2006/relationships/slide" Target="slides/slide13.xml"/><Relationship Id="rId39" Type="http://schemas.openxmlformats.org/officeDocument/2006/relationships/font" Target="fonts/PoppinsExtraLight-regular.fntdata"/><Relationship Id="rId16" Type="http://schemas.openxmlformats.org/officeDocument/2006/relationships/slide" Target="slides/slide12.xml"/><Relationship Id="rId38" Type="http://schemas.openxmlformats.org/officeDocument/2006/relationships/font" Target="fonts/PoppinsSemiBold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cfaf56cc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f5cfaf56cc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74a5c673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f674a5c673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74a5c673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f674a5c673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674a5c673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f674a5c67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674a5c673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f674a5c673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74a5c673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f674a5c673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74a5c673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f674a5c673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674a5c673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f674a5c673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674a5c673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f674a5c673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674a5c673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f674a5c673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674a5c673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f674a5c673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674a5c673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f674a5c673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674a5c673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f674a5c673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674a5c673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f674a5c673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674a5c673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f674a5c673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674a5c673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f674a5c673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674a5c673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f674a5c673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674a5c673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f674a5c673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74a5c673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f674a5c673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674a5c673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3f674a5c673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5d31186fe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f5d31186fe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Final">
  <p:cSld name="Capa Fin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Título e texto">
  <p:cSld name="1_Slide Título e 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969034" y="1468581"/>
            <a:ext cx="10292001" cy="4442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2" type="body"/>
          </p:nvPr>
        </p:nvSpPr>
        <p:spPr>
          <a:xfrm>
            <a:off x="969035" y="704850"/>
            <a:ext cx="832736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Principal">
  <p:cSld name="Cap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/>
          <p:nvPr>
            <p:ph type="title"/>
          </p:nvPr>
        </p:nvSpPr>
        <p:spPr>
          <a:xfrm>
            <a:off x="1400175" y="3067050"/>
            <a:ext cx="9838748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"/>
          <p:cNvSpPr txBox="1"/>
          <p:nvPr>
            <p:ph idx="1" type="body"/>
          </p:nvPr>
        </p:nvSpPr>
        <p:spPr>
          <a:xfrm>
            <a:off x="1400175" y="4638722"/>
            <a:ext cx="983874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lide Texto e Imagem">
  <p:cSld name="2_Slide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idx="1" type="subTitle"/>
          </p:nvPr>
        </p:nvSpPr>
        <p:spPr>
          <a:xfrm>
            <a:off x="969034" y="692989"/>
            <a:ext cx="5302457" cy="521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9" name="Google Shape;19;p8"/>
          <p:cNvSpPr/>
          <p:nvPr>
            <p:ph idx="2" type="pic"/>
          </p:nvPr>
        </p:nvSpPr>
        <p:spPr>
          <a:xfrm>
            <a:off x="6522460" y="1468581"/>
            <a:ext cx="4718978" cy="444269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lide Título, Texto e Imagem">
  <p:cSld name="3_Slide Título,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idx="1" type="subTitle"/>
          </p:nvPr>
        </p:nvSpPr>
        <p:spPr>
          <a:xfrm>
            <a:off x="969034" y="1468581"/>
            <a:ext cx="5302457" cy="4442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2" name="Google Shape;22;p9"/>
          <p:cNvSpPr/>
          <p:nvPr>
            <p:ph idx="2" type="pic"/>
          </p:nvPr>
        </p:nvSpPr>
        <p:spPr>
          <a:xfrm>
            <a:off x="6522460" y="1468581"/>
            <a:ext cx="4718978" cy="444269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9"/>
          <p:cNvSpPr txBox="1"/>
          <p:nvPr>
            <p:ph idx="3" type="body"/>
          </p:nvPr>
        </p:nvSpPr>
        <p:spPr>
          <a:xfrm>
            <a:off x="969035" y="704850"/>
            <a:ext cx="832736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lide Título+Texto">
  <p:cSld name="4_Slide Título+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960438" y="1468438"/>
            <a:ext cx="10280650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2" type="body"/>
          </p:nvPr>
        </p:nvSpPr>
        <p:spPr>
          <a:xfrm>
            <a:off x="960439" y="676275"/>
            <a:ext cx="7735886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lide Texto e Imagem">
  <p:cSld name="5_Slide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idx="1" type="subTitle"/>
          </p:nvPr>
        </p:nvSpPr>
        <p:spPr>
          <a:xfrm>
            <a:off x="886691" y="1191491"/>
            <a:ext cx="5283200" cy="504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02020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9" name="Google Shape;29;p11"/>
          <p:cNvSpPr/>
          <p:nvPr>
            <p:ph idx="2" type="pic"/>
          </p:nvPr>
        </p:nvSpPr>
        <p:spPr>
          <a:xfrm>
            <a:off x="6898844" y="1579563"/>
            <a:ext cx="4368800" cy="46545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lide Título, Texto e Imagem">
  <p:cSld name="6_Slide Título,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>
            <p:ph idx="2" type="pic"/>
          </p:nvPr>
        </p:nvSpPr>
        <p:spPr>
          <a:xfrm>
            <a:off x="6898844" y="1828367"/>
            <a:ext cx="4368800" cy="4405746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2"/>
          <p:cNvSpPr txBox="1"/>
          <p:nvPr>
            <p:ph idx="1" type="subTitle"/>
          </p:nvPr>
        </p:nvSpPr>
        <p:spPr>
          <a:xfrm>
            <a:off x="886691" y="1828799"/>
            <a:ext cx="5283200" cy="4405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3" type="body"/>
          </p:nvPr>
        </p:nvSpPr>
        <p:spPr>
          <a:xfrm>
            <a:off x="887413" y="1171575"/>
            <a:ext cx="5283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1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lide Texto, Imagem e Legenda">
  <p:cSld name="7_Slide Texto,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idx="1" type="subTitle"/>
          </p:nvPr>
        </p:nvSpPr>
        <p:spPr>
          <a:xfrm>
            <a:off x="886691" y="1191491"/>
            <a:ext cx="5283200" cy="504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6" name="Google Shape;36;p13"/>
          <p:cNvSpPr/>
          <p:nvPr>
            <p:ph idx="2" type="pic"/>
          </p:nvPr>
        </p:nvSpPr>
        <p:spPr>
          <a:xfrm>
            <a:off x="6898844" y="1579563"/>
            <a:ext cx="4368800" cy="3685164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3"/>
          <p:cNvSpPr txBox="1"/>
          <p:nvPr>
            <p:ph idx="3" type="body"/>
          </p:nvPr>
        </p:nvSpPr>
        <p:spPr>
          <a:xfrm>
            <a:off x="6899275" y="5619750"/>
            <a:ext cx="4368800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lide Título, Texto, Imagem e Legenda">
  <p:cSld name="8_Slide Título, Texto,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idx="1" type="subTitle"/>
          </p:nvPr>
        </p:nvSpPr>
        <p:spPr>
          <a:xfrm>
            <a:off x="886691" y="1828799"/>
            <a:ext cx="5283200" cy="4405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0" name="Google Shape;40;p14"/>
          <p:cNvSpPr/>
          <p:nvPr>
            <p:ph idx="2" type="pic"/>
          </p:nvPr>
        </p:nvSpPr>
        <p:spPr>
          <a:xfrm>
            <a:off x="6898844" y="1828799"/>
            <a:ext cx="4368800" cy="3435928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4"/>
          <p:cNvSpPr txBox="1"/>
          <p:nvPr>
            <p:ph idx="3" type="body"/>
          </p:nvPr>
        </p:nvSpPr>
        <p:spPr>
          <a:xfrm>
            <a:off x="6899275" y="5610225"/>
            <a:ext cx="4368800" cy="62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4" type="body"/>
          </p:nvPr>
        </p:nvSpPr>
        <p:spPr>
          <a:xfrm>
            <a:off x="887413" y="1181100"/>
            <a:ext cx="5283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lide Imagens e Legendas">
  <p:cSld name="9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/>
          <p:nvPr>
            <p:ph idx="2" type="pic"/>
          </p:nvPr>
        </p:nvSpPr>
        <p:spPr>
          <a:xfrm>
            <a:off x="913986" y="1466850"/>
            <a:ext cx="5027949" cy="3631407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5"/>
          <p:cNvSpPr/>
          <p:nvPr>
            <p:ph idx="3" type="pic"/>
          </p:nvPr>
        </p:nvSpPr>
        <p:spPr>
          <a:xfrm>
            <a:off x="6409523" y="1466849"/>
            <a:ext cx="4839101" cy="363140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914401" y="5394325"/>
            <a:ext cx="50279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6409522" y="5387974"/>
            <a:ext cx="4839102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5" type="body"/>
          </p:nvPr>
        </p:nvSpPr>
        <p:spPr>
          <a:xfrm>
            <a:off x="913986" y="781050"/>
            <a:ext cx="1033463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Slide Imagens e Legendas">
  <p:cSld name="10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/>
          <p:nvPr>
            <p:ph idx="2" type="pic"/>
          </p:nvPr>
        </p:nvSpPr>
        <p:spPr>
          <a:xfrm>
            <a:off x="914401" y="793750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6"/>
          <p:cNvSpPr/>
          <p:nvPr>
            <p:ph idx="3" type="pic"/>
          </p:nvPr>
        </p:nvSpPr>
        <p:spPr>
          <a:xfrm>
            <a:off x="4447165" y="800893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6"/>
          <p:cNvSpPr/>
          <p:nvPr>
            <p:ph idx="4" type="pic"/>
          </p:nvPr>
        </p:nvSpPr>
        <p:spPr>
          <a:xfrm>
            <a:off x="7951369" y="793749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914400" y="5394325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4" name="Google Shape;54;p16"/>
          <p:cNvSpPr txBox="1"/>
          <p:nvPr>
            <p:ph idx="5" type="body"/>
          </p:nvPr>
        </p:nvSpPr>
        <p:spPr>
          <a:xfrm>
            <a:off x="4446747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5" name="Google Shape;55;p16"/>
          <p:cNvSpPr txBox="1"/>
          <p:nvPr>
            <p:ph idx="6" type="body"/>
          </p:nvPr>
        </p:nvSpPr>
        <p:spPr>
          <a:xfrm>
            <a:off x="7950952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Slide Título, Imagens e Legendas">
  <p:cSld name="11_Slide Título,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/>
          <p:nvPr>
            <p:ph idx="2" type="pic"/>
          </p:nvPr>
        </p:nvSpPr>
        <p:spPr>
          <a:xfrm>
            <a:off x="914401" y="1373982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7"/>
          <p:cNvSpPr/>
          <p:nvPr>
            <p:ph idx="3" type="pic"/>
          </p:nvPr>
        </p:nvSpPr>
        <p:spPr>
          <a:xfrm>
            <a:off x="4447165" y="1381125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7"/>
          <p:cNvSpPr/>
          <p:nvPr>
            <p:ph idx="4" type="pic"/>
          </p:nvPr>
        </p:nvSpPr>
        <p:spPr>
          <a:xfrm>
            <a:off x="7951369" y="1373981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914400" y="5394325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1" name="Google Shape;61;p17"/>
          <p:cNvSpPr txBox="1"/>
          <p:nvPr>
            <p:ph idx="5" type="body"/>
          </p:nvPr>
        </p:nvSpPr>
        <p:spPr>
          <a:xfrm>
            <a:off x="4446747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6" type="body"/>
          </p:nvPr>
        </p:nvSpPr>
        <p:spPr>
          <a:xfrm>
            <a:off x="7950952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7" type="body"/>
          </p:nvPr>
        </p:nvSpPr>
        <p:spPr>
          <a:xfrm>
            <a:off x="800100" y="762000"/>
            <a:ext cx="104489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apa Interna 01">
  <p:cSld name="12_Capa Interna 0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733425" y="4562475"/>
            <a:ext cx="107251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2" type="body"/>
          </p:nvPr>
        </p:nvSpPr>
        <p:spPr>
          <a:xfrm>
            <a:off x="733425" y="3752850"/>
            <a:ext cx="107251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4572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4572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4572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4572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apa Interna 02">
  <p:cSld name="13_Capa Interna 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733425" y="4562475"/>
            <a:ext cx="107251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9" name="Google Shape;69;p19"/>
          <p:cNvSpPr txBox="1"/>
          <p:nvPr>
            <p:ph idx="2" type="body"/>
          </p:nvPr>
        </p:nvSpPr>
        <p:spPr>
          <a:xfrm>
            <a:off x="733425" y="3762375"/>
            <a:ext cx="107251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Slide Imagem">
  <p:cSld name="14_Slid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/>
          <p:nvPr>
            <p:ph idx="2" type="pic"/>
          </p:nvPr>
        </p:nvSpPr>
        <p:spPr>
          <a:xfrm>
            <a:off x="914400" y="796419"/>
            <a:ext cx="10353111" cy="52554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Slide Imagem e Legenda">
  <p:cSld name="15_Slide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/>
          <p:nvPr>
            <p:ph idx="2" type="pic"/>
          </p:nvPr>
        </p:nvSpPr>
        <p:spPr>
          <a:xfrm>
            <a:off x="914400" y="796419"/>
            <a:ext cx="10353111" cy="4337556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/>
          <p:nvPr>
            <p:ph idx="1" type="body"/>
          </p:nvPr>
        </p:nvSpPr>
        <p:spPr>
          <a:xfrm>
            <a:off x="914400" y="5394325"/>
            <a:ext cx="1035311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Slide Imagens">
  <p:cSld name="16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/>
          <p:nvPr>
            <p:ph idx="2" type="pic"/>
          </p:nvPr>
        </p:nvSpPr>
        <p:spPr>
          <a:xfrm>
            <a:off x="914401" y="796419"/>
            <a:ext cx="5070763" cy="5255498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2"/>
          <p:cNvSpPr/>
          <p:nvPr>
            <p:ph idx="3" type="pic"/>
          </p:nvPr>
        </p:nvSpPr>
        <p:spPr>
          <a:xfrm>
            <a:off x="6196749" y="796418"/>
            <a:ext cx="5070763" cy="52554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Slide Imagens e Legendas">
  <p:cSld name="17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>
            <p:ph idx="2" type="pic"/>
          </p:nvPr>
        </p:nvSpPr>
        <p:spPr>
          <a:xfrm>
            <a:off x="914401" y="796419"/>
            <a:ext cx="5070764" cy="448995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/>
          <p:nvPr>
            <p:ph idx="3" type="pic"/>
          </p:nvPr>
        </p:nvSpPr>
        <p:spPr>
          <a:xfrm>
            <a:off x="6196749" y="796418"/>
            <a:ext cx="5070764" cy="448995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914400" y="5524500"/>
            <a:ext cx="50704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4" type="body"/>
          </p:nvPr>
        </p:nvSpPr>
        <p:spPr>
          <a:xfrm>
            <a:off x="6196013" y="5524500"/>
            <a:ext cx="5072062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Slide Imagens">
  <p:cSld name="18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/>
          <p:nvPr>
            <p:ph idx="2" type="pic"/>
          </p:nvPr>
        </p:nvSpPr>
        <p:spPr>
          <a:xfrm>
            <a:off x="914401" y="796419"/>
            <a:ext cx="5070763" cy="5255498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4"/>
          <p:cNvSpPr/>
          <p:nvPr>
            <p:ph idx="3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4"/>
          <p:cNvSpPr/>
          <p:nvPr>
            <p:ph idx="4" type="pic"/>
          </p:nvPr>
        </p:nvSpPr>
        <p:spPr>
          <a:xfrm>
            <a:off x="6196749" y="3507299"/>
            <a:ext cx="5070763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 Imagens">
  <p:cSld name="19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/>
          <p:nvPr>
            <p:ph idx="2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5"/>
          <p:cNvSpPr/>
          <p:nvPr>
            <p:ph idx="3" type="pic"/>
          </p:nvPr>
        </p:nvSpPr>
        <p:spPr>
          <a:xfrm>
            <a:off x="6196749" y="3507299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25"/>
          <p:cNvSpPr/>
          <p:nvPr>
            <p:ph idx="4" type="pic"/>
          </p:nvPr>
        </p:nvSpPr>
        <p:spPr>
          <a:xfrm>
            <a:off x="914401" y="806083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5"/>
          <p:cNvSpPr/>
          <p:nvPr>
            <p:ph idx="5" type="pic"/>
          </p:nvPr>
        </p:nvSpPr>
        <p:spPr>
          <a:xfrm>
            <a:off x="914401" y="3516964"/>
            <a:ext cx="5070763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 Textos e Imagens">
  <p:cSld name="19_Slide Textos 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/>
          <p:nvPr>
            <p:ph idx="2" type="pic"/>
          </p:nvPr>
        </p:nvSpPr>
        <p:spPr>
          <a:xfrm>
            <a:off x="1009650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6"/>
          <p:cNvSpPr txBox="1"/>
          <p:nvPr>
            <p:ph idx="1" type="body"/>
          </p:nvPr>
        </p:nvSpPr>
        <p:spPr>
          <a:xfrm>
            <a:off x="924489" y="796419"/>
            <a:ext cx="4961961" cy="145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95" name="Google Shape;95;p26"/>
          <p:cNvSpPr/>
          <p:nvPr>
            <p:ph idx="3" type="pic"/>
          </p:nvPr>
        </p:nvSpPr>
        <p:spPr>
          <a:xfrm>
            <a:off x="6390711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6"/>
          <p:cNvSpPr txBox="1"/>
          <p:nvPr>
            <p:ph idx="4" type="body"/>
          </p:nvPr>
        </p:nvSpPr>
        <p:spPr>
          <a:xfrm>
            <a:off x="6305550" y="796419"/>
            <a:ext cx="4961961" cy="145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Slide Título, Textos e Imagens">
  <p:cSld name="20_Slide Título, Textos 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/>
          <p:nvPr>
            <p:ph idx="2" type="pic"/>
          </p:nvPr>
        </p:nvSpPr>
        <p:spPr>
          <a:xfrm>
            <a:off x="1009650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7"/>
          <p:cNvSpPr txBox="1"/>
          <p:nvPr>
            <p:ph idx="1" type="body"/>
          </p:nvPr>
        </p:nvSpPr>
        <p:spPr>
          <a:xfrm>
            <a:off x="924489" y="1452563"/>
            <a:ext cx="4961961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00" name="Google Shape;100;p27"/>
          <p:cNvSpPr/>
          <p:nvPr>
            <p:ph idx="3" type="pic"/>
          </p:nvPr>
        </p:nvSpPr>
        <p:spPr>
          <a:xfrm>
            <a:off x="6390711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7"/>
          <p:cNvSpPr txBox="1"/>
          <p:nvPr>
            <p:ph idx="4" type="body"/>
          </p:nvPr>
        </p:nvSpPr>
        <p:spPr>
          <a:xfrm>
            <a:off x="6305550" y="1452563"/>
            <a:ext cx="4961961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02" name="Google Shape;102;p27"/>
          <p:cNvSpPr txBox="1"/>
          <p:nvPr>
            <p:ph idx="5" type="body"/>
          </p:nvPr>
        </p:nvSpPr>
        <p:spPr>
          <a:xfrm>
            <a:off x="828675" y="762000"/>
            <a:ext cx="104394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Slide Imagens">
  <p:cSld name="21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/>
          <p:nvPr>
            <p:ph idx="2" type="pic"/>
          </p:nvPr>
        </p:nvSpPr>
        <p:spPr>
          <a:xfrm>
            <a:off x="914401" y="796419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8"/>
          <p:cNvSpPr/>
          <p:nvPr>
            <p:ph idx="3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8"/>
          <p:cNvSpPr/>
          <p:nvPr>
            <p:ph idx="4" type="pic"/>
          </p:nvPr>
        </p:nvSpPr>
        <p:spPr>
          <a:xfrm>
            <a:off x="932874" y="3507300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8"/>
          <p:cNvSpPr/>
          <p:nvPr>
            <p:ph idx="5" type="pic"/>
          </p:nvPr>
        </p:nvSpPr>
        <p:spPr>
          <a:xfrm>
            <a:off x="4465638" y="3514443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8"/>
          <p:cNvSpPr/>
          <p:nvPr>
            <p:ph idx="6" type="pic"/>
          </p:nvPr>
        </p:nvSpPr>
        <p:spPr>
          <a:xfrm>
            <a:off x="7969842" y="3507299"/>
            <a:ext cx="3297670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Slide Imagens">
  <p:cSld name="22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/>
          <p:nvPr>
            <p:ph idx="2" type="pic"/>
          </p:nvPr>
        </p:nvSpPr>
        <p:spPr>
          <a:xfrm>
            <a:off x="914401" y="796419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9"/>
          <p:cNvSpPr/>
          <p:nvPr>
            <p:ph idx="3" type="pic"/>
          </p:nvPr>
        </p:nvSpPr>
        <p:spPr>
          <a:xfrm>
            <a:off x="4447165" y="803562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9"/>
          <p:cNvSpPr/>
          <p:nvPr>
            <p:ph idx="4" type="pic"/>
          </p:nvPr>
        </p:nvSpPr>
        <p:spPr>
          <a:xfrm>
            <a:off x="7951369" y="796418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9"/>
          <p:cNvSpPr/>
          <p:nvPr>
            <p:ph idx="5" type="pic"/>
          </p:nvPr>
        </p:nvSpPr>
        <p:spPr>
          <a:xfrm>
            <a:off x="932874" y="3507300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9"/>
          <p:cNvSpPr/>
          <p:nvPr>
            <p:ph idx="6" type="pic"/>
          </p:nvPr>
        </p:nvSpPr>
        <p:spPr>
          <a:xfrm>
            <a:off x="4465638" y="3514443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9"/>
          <p:cNvSpPr/>
          <p:nvPr>
            <p:ph idx="7" type="pic"/>
          </p:nvPr>
        </p:nvSpPr>
        <p:spPr>
          <a:xfrm>
            <a:off x="7969842" y="3507299"/>
            <a:ext cx="3297670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/>
          <p:nvPr>
            <p:ph type="title"/>
          </p:nvPr>
        </p:nvSpPr>
        <p:spPr>
          <a:xfrm>
            <a:off x="1400175" y="2790825"/>
            <a:ext cx="98388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</a:pPr>
            <a:r>
              <a:rPr lang="pt-BR" sz="4200">
                <a:solidFill>
                  <a:srgbClr val="202020"/>
                </a:solidFill>
              </a:rPr>
              <a:t>Modelagem Informacional</a:t>
            </a:r>
            <a:endParaRPr sz="4200">
              <a:solidFill>
                <a:srgbClr val="202020"/>
              </a:solidFill>
            </a:endParaRPr>
          </a:p>
        </p:txBody>
      </p:sp>
      <p:sp>
        <p:nvSpPr>
          <p:cNvPr id="121" name="Google Shape;121;p1"/>
          <p:cNvSpPr txBox="1"/>
          <p:nvPr>
            <p:ph idx="1" type="body"/>
          </p:nvPr>
        </p:nvSpPr>
        <p:spPr>
          <a:xfrm>
            <a:off x="1400200" y="4067322"/>
            <a:ext cx="983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100">
                <a:solidFill>
                  <a:srgbClr val="202020"/>
                </a:solidFill>
              </a:rPr>
              <a:t>Aula 02 - </a:t>
            </a:r>
            <a:r>
              <a:rPr lang="pt-BR" sz="2100">
                <a:solidFill>
                  <a:srgbClr val="202020"/>
                </a:solidFill>
              </a:rPr>
              <a:t>Estruturas de Dados Modernas: CSV, JSON, XML, Avro e Parquet</a:t>
            </a:r>
            <a:endParaRPr sz="2000">
              <a:solidFill>
                <a:srgbClr val="202020"/>
              </a:solidFill>
            </a:endParaRPr>
          </a:p>
        </p:txBody>
      </p:sp>
      <p:sp>
        <p:nvSpPr>
          <p:cNvPr id="122" name="Google Shape;122;p1"/>
          <p:cNvSpPr txBox="1"/>
          <p:nvPr>
            <p:ph idx="1" type="body"/>
          </p:nvPr>
        </p:nvSpPr>
        <p:spPr>
          <a:xfrm>
            <a:off x="1400200" y="5963822"/>
            <a:ext cx="983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100">
                <a:solidFill>
                  <a:srgbClr val="202020"/>
                </a:solidFill>
              </a:rPr>
              <a:t>Prof. Dr. Wagner de A. Perin</a:t>
            </a:r>
            <a:endParaRPr sz="200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5cfaf56cc_0_28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Varejista Multicanal paga dezenas de milhares de dólares mensais em armazenamento de objetos na nuvem (AWS S3) e sofre com consultas excessivamente lentas em seus dashboards executivos alimentados pelo AWS Athena.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Causa Raiz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Auditoria revelou que o histórico diário de vendas (milhões de linhas) está sendo salvo em 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arquivos CSV e JSON não comprimidos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f5cfaf56cc_0_28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Desafio: </a:t>
            </a:r>
            <a:r>
              <a:rPr b="0" lang="pt-BR" sz="2200">
                <a:solidFill>
                  <a:srgbClr val="B41B26"/>
                </a:solidFill>
              </a:rPr>
              <a:t>Uma dor comum no Varejo Digital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74a5c673_0_1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Dilema do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Billing Cloud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Na nuvem moderna (AWS/GCP/Azure), você paga por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Gigabyte Armazenado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e por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Terabyte Escaneado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nas consultas (ex: AWS Athena / BigQuery).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g3f674a5c673_0_1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Desafio e a Meta Emergencial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674a5c673_0_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g3f674a5c673_0_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Precificação</a:t>
            </a:r>
            <a:endParaRPr b="0" i="1" sz="2200">
              <a:solidFill>
                <a:srgbClr val="B41B26"/>
              </a:solidFill>
            </a:endParaRPr>
          </a:p>
        </p:txBody>
      </p:sp>
      <p:pic>
        <p:nvPicPr>
          <p:cNvPr id="141" name="Google Shape;141;g3f674a5c673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025" y="1468575"/>
            <a:ext cx="5154850" cy="49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f674a5c673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0100" y="1468575"/>
            <a:ext cx="5295384" cy="497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674a5c673_0_13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Dilema do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Billing Cloud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Na nuvem moderna (AWS/GCP/Azure), você paga por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Gigabyte Armazenado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e por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Terabyte Escaneado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nas consultas (ex: AWS Athena / BigQuery).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Como reduzir os custos de armazenamento e processamento mantendo a integridade histórica dos dados analíticos?</a:t>
            </a:r>
            <a:endParaRPr b="1" i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g3f674a5c673_0_13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Desafio e a Meta Emergencial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674a5c673_0_19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Varejista Multicanal paga dezenas de milhares de dólares mensais em armazenamento de objetos na nuvem (AWS S3) e sofre com consultas excessivamente lentas em seus dashboards executivos alimentados pelo AWS Athena.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Meta da Diretoria: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Reduzir a fatura da nuvem em pelo menos 70%.</a:t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Não apagar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nenhum registro histórico.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Acelerar o tempo de resposta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das consultas analíticas para menos de 2 segundos.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3f674a5c673_0_19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Desafio: </a:t>
            </a:r>
            <a:r>
              <a:rPr b="0" lang="pt-BR" sz="2200">
                <a:solidFill>
                  <a:srgbClr val="B41B26"/>
                </a:solidFill>
              </a:rPr>
              <a:t>Uma dor comum no Varejo Digital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674a5c673_0_24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Como é possível reduzir em 80% o tamanho ocupado em disco sem apagar nenhuma linha de dados da empresa?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Quando você abre um arquivo CSV gigante no Excel, o que acontece fisicamente com a memória RAM do seu computador?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o formato CSV é legível por humanos e aceito amplamente pelo mercado, por que ele é considerado o 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pior formato possível para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Big Data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analítico?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você precisa consultar apenas a soma das vendas da coluna 'valor', faz sentido o processador ter que ler os nomes, endereços e CPFs armazenados no disco?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g3f674a5c673_0_24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Pausa Ativa</a:t>
            </a:r>
            <a:r>
              <a:rPr lang="pt-BR" sz="2200">
                <a:solidFill>
                  <a:srgbClr val="B41B26"/>
                </a:solidFill>
              </a:rPr>
              <a:t>: </a:t>
            </a:r>
            <a:r>
              <a:rPr b="0" lang="pt-BR" sz="2200">
                <a:solidFill>
                  <a:srgbClr val="B41B26"/>
                </a:solidFill>
              </a:rPr>
              <a:t>Dilemas e Perguntas Disparadoras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74a5c673_0_35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CSV, JSON e XML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Estes formatos salvam os dados sequencialmente por 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linha </a:t>
            </a: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(registro).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Como o armazenamento orientado a linhas afeta consultas analíticas que buscam agregação em apenas algumas colunas?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Características: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Texto Plano: 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Altamente verbosos e legíveis por humanos.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Sem Tipagem Estrita (CSV): 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Números e datas são tratados como strings até o momento da leitura.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Full Table Scan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Obrigatório: 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Para ler a coluna de preço na linha 1.000.000, o motor de busca tem que passar por todos os caracteres das 999.999 linhas anteriores.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g3f674a5c673_0_3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Formatos Orientados a Linha (</a:t>
            </a:r>
            <a:r>
              <a:rPr i="1" lang="pt-BR" sz="2200">
                <a:solidFill>
                  <a:srgbClr val="B41B26"/>
                </a:solidFill>
              </a:rPr>
              <a:t>Row-Oriented</a:t>
            </a:r>
            <a:r>
              <a:rPr lang="pt-BR" sz="2200">
                <a:solidFill>
                  <a:srgbClr val="B41B26"/>
                </a:solidFill>
              </a:rPr>
              <a:t>)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74a5c673_0_40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Layout 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de Memória / Disco: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a Tabela é: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Poppins"/>
              <a:buAutoNum type="arabicPeriod"/>
            </a:pPr>
            <a:r>
              <a:rPr i="1"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(ID=1, Nome="TV", Preço=2000)</a:t>
            </a:r>
            <a:endParaRPr i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Poppins"/>
              <a:buAutoNum type="arabicPeriod"/>
            </a:pPr>
            <a:r>
              <a:rPr i="1"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(ID=2, Nome="Geladeira", Preço=3500)</a:t>
            </a:r>
            <a:endParaRPr i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b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No formato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Row-Oriented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(CSV), o disco armazena sequencialmente: 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1, TV, 2000, 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2, Geladeira, 3500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 a consulta pede apenas a média de 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Preço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, todo o disco será lido, gerando um imenso gargalo de I/O.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g3f674a5c673_0_4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que significa "Orientado a Linhas" no Disco?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674a5c673_0_54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Quando o formato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Row-Oriented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ainda brilha? 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Na ingestão de dados em alta velocidade (</a:t>
            </a:r>
            <a:r>
              <a:rPr b="1" i="1"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Streaming</a:t>
            </a: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18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 que grandes arquiteturas de mensageria (como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Apache Kafka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) preferem o formato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Avro 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em vez do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JSON 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tradicional?</a:t>
            </a:r>
            <a:endParaRPr i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 que o Avro?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É orientado a linhas, porém 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binário 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 super compacto.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b="1"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Schema Evolution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Estrito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O esquema JSON é acoplado ao arquivo, garantindo consistência.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Gravação Rápida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Ideal para cenários onde inserimos o registro de um usuário inteiro por vez, rapidamente, ao invés de consultarmos colunas específicas.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g3f674a5c673_0_54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Apache Avro - O Campeão de </a:t>
            </a:r>
            <a:r>
              <a:rPr i="1" lang="pt-BR" sz="2200">
                <a:solidFill>
                  <a:srgbClr val="B41B26"/>
                </a:solidFill>
              </a:rPr>
              <a:t>Streaming</a:t>
            </a:r>
            <a:endParaRPr b="0" i="1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674a5c673_0_59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Quando o formato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Row-Oriented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ainda brilha? 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Na ingestão de dados em alta velocidade (</a:t>
            </a:r>
            <a:r>
              <a:rPr b="1"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Streaming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 que grandes arquiteturas de mensageria (como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Apache Kafka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) preferem o formato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Avro 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em vez do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JSON 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tradicional?</a:t>
            </a:r>
            <a:endParaRPr i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 que o Avro?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É orientado a linhas, porém 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binário 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 super compacto.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b="1"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Schema Evolution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Estrito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O esquema JSON é acoplado ao arquivo, garantindo consistência.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Gravação Rápida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Ideal para cenários onde inserimos o registro de um usuário inteiro por vez, rapidamente, ao invés de consultarmos colunas específicas.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g3f674a5c673_0_59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Apache Avro - O Campeão de </a:t>
            </a:r>
            <a:r>
              <a:rPr i="1" lang="pt-BR" sz="2200">
                <a:solidFill>
                  <a:srgbClr val="B41B26"/>
                </a:solidFill>
              </a:rPr>
              <a:t>Streaming</a:t>
            </a:r>
            <a:endParaRPr b="0" i="1" sz="2200">
              <a:solidFill>
                <a:srgbClr val="B41B26"/>
              </a:solidFill>
            </a:endParaRPr>
          </a:p>
        </p:txBody>
      </p:sp>
      <p:pic>
        <p:nvPicPr>
          <p:cNvPr id="185" name="Google Shape;185;g3f674a5c673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50" y="1895475"/>
            <a:ext cx="10401300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74a5c673_0_70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Quando o formato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Row-Oriented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ainda brilha? 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Na ingestão de dados em alta velocidade (</a:t>
            </a:r>
            <a:r>
              <a:rPr b="1"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Streaming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 que grandes arquiteturas de mensageria (como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Apache Kafka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) preferem o formato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Avro 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em vez do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JSON 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tradicional?</a:t>
            </a:r>
            <a:endParaRPr i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 que o Avro?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É orientado a linhas, porém 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binário 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 super compacto.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b="1"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Schema Evolution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Estrito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O esquema JSON é acoplado ao arquivo, garantindo consistência.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Gravação Rápida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Ideal para cenários onde inserimos o registro de um usuário inteiro por vez, rapidamente, ao invés de consultarmos colunas específicas.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g3f674a5c673_0_7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Apache Avro - O Campeão de </a:t>
            </a:r>
            <a:r>
              <a:rPr i="1" lang="pt-BR" sz="2200">
                <a:solidFill>
                  <a:srgbClr val="B41B26"/>
                </a:solidFill>
              </a:rPr>
              <a:t>Streaming</a:t>
            </a:r>
            <a:endParaRPr b="0" i="1" sz="2200">
              <a:solidFill>
                <a:srgbClr val="B41B26"/>
              </a:solidFill>
            </a:endParaRPr>
          </a:p>
        </p:txBody>
      </p:sp>
      <p:pic>
        <p:nvPicPr>
          <p:cNvPr id="192" name="Google Shape;192;g3f674a5c673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50" y="1895475"/>
            <a:ext cx="1040130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f674a5c673_0_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8975" y="1657350"/>
            <a:ext cx="573405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674a5c673_0_77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Apache Avro - O Campeão de </a:t>
            </a:r>
            <a:r>
              <a:rPr i="1" lang="pt-BR" sz="2200">
                <a:solidFill>
                  <a:srgbClr val="B41B26"/>
                </a:solidFill>
              </a:rPr>
              <a:t>Streaming</a:t>
            </a:r>
            <a:endParaRPr b="0" i="1" sz="2200">
              <a:solidFill>
                <a:srgbClr val="B41B26"/>
              </a:solidFill>
            </a:endParaRPr>
          </a:p>
        </p:txBody>
      </p:sp>
      <p:pic>
        <p:nvPicPr>
          <p:cNvPr id="199" name="Google Shape;199;g3f674a5c673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0755"/>
            <a:ext cx="12192000" cy="4911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674a5c673_0_8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Apache Avro - O Campeão de </a:t>
            </a:r>
            <a:r>
              <a:rPr i="1" lang="pt-BR" sz="2200">
                <a:solidFill>
                  <a:srgbClr val="B41B26"/>
                </a:solidFill>
              </a:rPr>
              <a:t>Streaming</a:t>
            </a:r>
            <a:endParaRPr b="0" i="1" sz="2200">
              <a:solidFill>
                <a:srgbClr val="B41B26"/>
              </a:solidFill>
            </a:endParaRPr>
          </a:p>
        </p:txBody>
      </p:sp>
      <p:pic>
        <p:nvPicPr>
          <p:cNvPr id="205" name="Google Shape;205;g3f674a5c673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0755"/>
            <a:ext cx="12192000" cy="491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f674a5c673_0_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6163" y="1300750"/>
            <a:ext cx="9379675" cy="51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674a5c673_0_93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Quando o formato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Row-Oriented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ainda brilha? 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Na ingestão de dados em alta velocidade (</a:t>
            </a:r>
            <a:r>
              <a:rPr b="1"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Streaming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 que grandes arquiteturas de mensageria (como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Apache Kafka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) preferem o formato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Avro 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em vez do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JSON 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tradicional?</a:t>
            </a:r>
            <a:endParaRPr i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 que o Avro?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É orientado a linhas, porém 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binário 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 super compacto.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b="1"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Schema Evolution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Estrito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O esquema JSON é acoplado ao arquivo, garantindo consistência.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Gravação Rápida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Ideal para cenários onde inserimos o registro de um usuário inteiro por vez, rapidamente, ao invés de consultarmos colunas específicas.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g3f674a5c673_0_93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Apache Avro - O Campeão de </a:t>
            </a:r>
            <a:r>
              <a:rPr i="1" lang="pt-BR" sz="2200">
                <a:solidFill>
                  <a:srgbClr val="B41B26"/>
                </a:solidFill>
              </a:rPr>
              <a:t>Streaming</a:t>
            </a:r>
            <a:endParaRPr b="0" i="1" sz="2200">
              <a:solidFill>
                <a:srgbClr val="B41B26"/>
              </a:solidFill>
            </a:endParaRPr>
          </a:p>
        </p:txBody>
      </p:sp>
      <p:pic>
        <p:nvPicPr>
          <p:cNvPr id="213" name="Google Shape;213;g3f674a5c673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9675" y="1515750"/>
            <a:ext cx="7492648" cy="444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674a5c673_0_109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padrão de ouro do Big Data Analítico: Apache Parquet.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Ao contrário do CSV, o </a:t>
            </a:r>
            <a:r>
              <a:rPr b="1" i="1"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Parquet </a:t>
            </a: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reorganiza fisicamente os dados antes de gravar no disco. Ele </a:t>
            </a:r>
            <a:r>
              <a:rPr b="1"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agrupa todos os valores de uma coluna</a:t>
            </a: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em blocos adjacentes.</a:t>
            </a:r>
            <a:endParaRPr sz="18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mesmo exemplo anterior (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Parquet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): </a:t>
            </a:r>
            <a:endParaRPr i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[1, 2], [TV, Geladeira], [2000, 3500]</a:t>
            </a:r>
            <a:endParaRPr i="1"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 a consulta for </a:t>
            </a:r>
            <a:r>
              <a:rPr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SELECT SUM(Preço)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, o motor de processamento (Pandas, Spark, Athena) lerá 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apenas 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 bloco [2000, 3500], ignorando todo o resto do arquivo!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Insight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Ler menos dados do disco não é apenas uma questão de velocidade, é uma redução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brutal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nos custos de I/O faturados pelo provedor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Cloud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g3f674a5c673_0_109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Paradigma Orientado a Colunas (</a:t>
            </a:r>
            <a:r>
              <a:rPr i="1" lang="pt-BR" sz="2200">
                <a:solidFill>
                  <a:srgbClr val="B41B26"/>
                </a:solidFill>
              </a:rPr>
              <a:t>Column-Oriented</a:t>
            </a:r>
            <a:r>
              <a:rPr lang="pt-BR" sz="2200">
                <a:solidFill>
                  <a:srgbClr val="B41B26"/>
                </a:solidFill>
              </a:rPr>
              <a:t>)</a:t>
            </a:r>
            <a:endParaRPr b="0" i="1" sz="2200">
              <a:solidFill>
                <a:srgbClr val="B41B26"/>
              </a:solidFill>
            </a:endParaRPr>
          </a:p>
        </p:txBody>
      </p:sp>
      <p:pic>
        <p:nvPicPr>
          <p:cNvPr id="220" name="Google Shape;220;g3f674a5c673_0_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124" y="1344499"/>
            <a:ext cx="8697776" cy="49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674a5c673_0_123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padrão de ouro do Big Data Analítico: Apache Parquet.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Ao contrário do CSV, o </a:t>
            </a:r>
            <a:r>
              <a:rPr b="1" i="1"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Parquet </a:t>
            </a: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reorganiza fisicamente os dados antes de gravar no disco. Ele </a:t>
            </a:r>
            <a:r>
              <a:rPr b="1"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agrupa todos os valores de uma coluna</a:t>
            </a: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em blocos adjacentes.</a:t>
            </a:r>
            <a:endParaRPr sz="18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mesmo exemplo anterior (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Parquet</a:t>
            </a: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): </a:t>
            </a:r>
            <a:endParaRPr i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[1, 2], [TV, Geladeira], [2000, 3500]</a:t>
            </a:r>
            <a:endParaRPr i="1"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 a consulta for </a:t>
            </a:r>
            <a:r>
              <a:rPr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SELECT SUM(Preço)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, o motor de processamento (Pandas, Spark, Athena) lerá 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apenas 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 bloco [2000, 3500], ignorando todo o resto do arquivo!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Insight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Ler menos dados do disco não é apenas uma questão de velocidade, é uma redução brutal nos custos de I/O faturados pelo provedor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Cloud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g3f674a5c673_0_123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Paradigma Orientado a Colunas (</a:t>
            </a:r>
            <a:r>
              <a:rPr i="1" lang="pt-BR" sz="2200">
                <a:solidFill>
                  <a:srgbClr val="B41B26"/>
                </a:solidFill>
              </a:rPr>
              <a:t>Column-Oriented</a:t>
            </a:r>
            <a:r>
              <a:rPr lang="pt-BR" sz="2200">
                <a:solidFill>
                  <a:srgbClr val="B41B26"/>
                </a:solidFill>
              </a:rPr>
              <a:t>)</a:t>
            </a:r>
            <a:endParaRPr b="0" i="1" sz="2200">
              <a:solidFill>
                <a:srgbClr val="B41B26"/>
              </a:solidFill>
            </a:endParaRPr>
          </a:p>
        </p:txBody>
      </p:sp>
      <p:pic>
        <p:nvPicPr>
          <p:cNvPr id="227" name="Google Shape;227;g3f674a5c673_0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124" y="1344499"/>
            <a:ext cx="8697776" cy="49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f674a5c673_0_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674a5c673_0_115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Parquet 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não é apenas um formato colunar, é um formato 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inteligente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Cada arquivo e cada bloco interno possui 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Metadados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Estatísticas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que o Parquet sabe antes de ler os dados?</a:t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Para cada bloco de coluna, ele armazena o valor 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Mínimo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Máximo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min/max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Ele sabe a quantidade de valores nulos.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Ele possui suporte nativo a dicionários para strings repetitivas (compressão de cardinalidade).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Isso habilita as duas maiores mágicas do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Big Data</a:t>
            </a: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Column Projection</a:t>
            </a: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Predicate Pushdown</a:t>
            </a: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g3f674a5c673_0_11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Mecanismos Internos do </a:t>
            </a:r>
            <a:r>
              <a:rPr i="1" lang="pt-BR" sz="2200">
                <a:solidFill>
                  <a:srgbClr val="B41B26"/>
                </a:solidFill>
              </a:rPr>
              <a:t>Parquet </a:t>
            </a:r>
            <a:r>
              <a:rPr lang="pt-BR" sz="2200">
                <a:solidFill>
                  <a:srgbClr val="B41B26"/>
                </a:solidFill>
              </a:rPr>
              <a:t>- Metadados</a:t>
            </a:r>
            <a:endParaRPr b="0" i="1" sz="2200">
              <a:solidFill>
                <a:srgbClr val="B41B26"/>
              </a:solidFill>
            </a:endParaRPr>
          </a:p>
        </p:txBody>
      </p:sp>
      <p:pic>
        <p:nvPicPr>
          <p:cNvPr id="235" name="Google Shape;235;g3f674a5c673_0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938" y="965049"/>
            <a:ext cx="7458126" cy="544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f674a5c673_0_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238" y="933450"/>
            <a:ext cx="10220325" cy="52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674a5c673_0_13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que é? 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É a capacidade de ler seletivamente apenas os blocos de colunas que a sua </a:t>
            </a:r>
            <a:r>
              <a:rPr b="1" i="1"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query </a:t>
            </a: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solicitou, "pulando" o resto do arquivo.</a:t>
            </a:r>
            <a:endParaRPr sz="18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 custo de transferência (I/O) é o principal gargalo em </a:t>
            </a:r>
            <a:r>
              <a:rPr b="1"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Data Lakes Cloud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i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Como minimizar bytes transferidos pela rede?</a:t>
            </a:r>
            <a:endParaRPr i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 a tabela original tem 300 colunas (10 GB em disco) e a sua consulta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SQL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utiliza apenas 3 colunas, com </a:t>
            </a:r>
            <a:r>
              <a:rPr b="1"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Parquet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você carregará na memória talvez 100 MB, enquanto no CSV você obrigatoriamente teria que carregar os 10 GB.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g3f674a5c673_0_13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Poder da Projeção Colunar (</a:t>
            </a:r>
            <a:r>
              <a:rPr i="1" lang="pt-BR" sz="2200">
                <a:solidFill>
                  <a:srgbClr val="B41B26"/>
                </a:solidFill>
              </a:rPr>
              <a:t>Column Projection</a:t>
            </a:r>
            <a:r>
              <a:rPr lang="pt-BR" sz="2200">
                <a:solidFill>
                  <a:srgbClr val="B41B26"/>
                </a:solidFill>
              </a:rPr>
              <a:t>)</a:t>
            </a:r>
            <a:endParaRPr b="0" i="1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674a5c673_0_139"/>
          <p:cNvSpPr txBox="1"/>
          <p:nvPr>
            <p:ph idx="1" type="subTitle"/>
          </p:nvPr>
        </p:nvSpPr>
        <p:spPr>
          <a:xfrm>
            <a:off x="969029" y="1468575"/>
            <a:ext cx="57705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Predicate Pushdown</a:t>
            </a: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"empurra" o filtro (</a:t>
            </a:r>
            <a:r>
              <a:rPr b="1" i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WHERE</a:t>
            </a: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) para o nível do armazenamento físico.</a:t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banco não carrega os dados indesejados para a RAM para depois filtrá-los. Ele simplesmente </a:t>
            </a: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não os lê do disco</a:t>
            </a: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g3f674a5c673_0_139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Arquitetura de </a:t>
            </a:r>
            <a:r>
              <a:rPr i="1" lang="pt-BR" sz="2200">
                <a:solidFill>
                  <a:srgbClr val="B41B26"/>
                </a:solidFill>
              </a:rPr>
              <a:t>Predicate Pushdown</a:t>
            </a:r>
            <a:endParaRPr b="0" i="1" sz="2200">
              <a:solidFill>
                <a:srgbClr val="B41B26"/>
              </a:solidFill>
            </a:endParaRPr>
          </a:p>
        </p:txBody>
      </p:sp>
      <p:pic>
        <p:nvPicPr>
          <p:cNvPr id="249" name="Google Shape;249;g3f674a5c673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1100" y="1209750"/>
            <a:ext cx="4979557" cy="510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674a5c673_0_146"/>
          <p:cNvSpPr txBox="1"/>
          <p:nvPr>
            <p:ph idx="1" type="subTitle"/>
          </p:nvPr>
        </p:nvSpPr>
        <p:spPr>
          <a:xfrm>
            <a:off x="969022" y="1468575"/>
            <a:ext cx="107982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 formato </a:t>
            </a:r>
            <a:r>
              <a:rPr b="1"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Parquet 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suporta algoritmos de compressão pesados em cada coluna separadamente.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Gzip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Comprime muito o arquivo (salva muito disco). Mas gasta bastante CPU para descomprimir na hora da leitura. 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Char char="●"/>
            </a:pPr>
            <a:r>
              <a:rPr b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Snappy (Google)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Comprime razoavelmente bem, mas foi projetado para uma descompressão insanamente rápida.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Questões para Discussão: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AutoNum type="arabicPeriod"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Por que o </a:t>
            </a:r>
            <a:r>
              <a:rPr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Snappy 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é o padrão absoluto da indústria (Spark/Hadoop) mesmo comprimindo menos que o </a:t>
            </a:r>
            <a:r>
              <a:rPr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Gzip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2000"/>
              <a:buFont typeface="Poppins"/>
              <a:buAutoNum type="arabicPeriod"/>
            </a:pP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Onde na nuvem a CPU (poder computacional) custa mais caro que o disco (</a:t>
            </a:r>
            <a:r>
              <a:rPr i="1"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Storage</a:t>
            </a:r>
            <a:r>
              <a:rPr lang="pt-BR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)?</a:t>
            </a:r>
            <a:endParaRPr sz="2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g3f674a5c673_0_14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Trade-off Snappy vs Gzip</a:t>
            </a:r>
            <a:endParaRPr b="0" i="1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2023-12-21T18:31:02Z</dcterms:created>
  <dc:creator>Ester Margotto Montebeler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0x0101008C19AB3E6619E54BB6D98946A8919BCB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