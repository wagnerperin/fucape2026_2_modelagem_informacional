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Poppins Extra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Y1D9Oo3ud0Ovnz7i7+DWytU8T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oppins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6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9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8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11.xml"/><Relationship Id="rId37" Type="http://schemas.openxmlformats.org/officeDocument/2006/relationships/font" Target="fonts/PoppinsExtraLight-bold.fntdata"/><Relationship Id="rId14" Type="http://schemas.openxmlformats.org/officeDocument/2006/relationships/slide" Target="slides/slide10.xml"/><Relationship Id="rId36" Type="http://schemas.openxmlformats.org/officeDocument/2006/relationships/font" Target="fonts/PoppinsExtraLight-regular.fntdata"/><Relationship Id="rId17" Type="http://schemas.openxmlformats.org/officeDocument/2006/relationships/slide" Target="slides/slide13.xml"/><Relationship Id="rId39" Type="http://schemas.openxmlformats.org/officeDocument/2006/relationships/font" Target="fonts/PoppinsExtraLight-boldItalic.fntdata"/><Relationship Id="rId16" Type="http://schemas.openxmlformats.org/officeDocument/2006/relationships/slide" Target="slides/slide12.xml"/><Relationship Id="rId38" Type="http://schemas.openxmlformats.org/officeDocument/2006/relationships/font" Target="fonts/PoppinsExtraLight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cfaf56cc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f5cfaf56cc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74a5c67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f674a5c67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74a5c67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f674a5c67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f13bc3d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f6f13bc3d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74a5c67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f674a5c67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f13bc3da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f6f13bc3da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f13bc3da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f6f13bc3da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f13bc3da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f6f13bc3da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f13bc3da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f6f13bc3da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6f13bc3da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f6f13bc3da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f13bc3da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f6f13bc3da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f13bc3da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f6f13bc3da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f13bc3da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f6f13bc3da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6f13bc3da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f6f13bc3da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f13bc3da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f6f13bc3da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f13bc3da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f6f13bc3da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6f13bc3da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f6f13bc3da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d31186fe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f5d31186fe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Principal">
  <p:cSld name="Cap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/>
          <p:nvPr>
            <p:ph type="title"/>
          </p:nvPr>
        </p:nvSpPr>
        <p:spPr>
          <a:xfrm>
            <a:off x="1400175" y="3067050"/>
            <a:ext cx="9838748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" type="body"/>
          </p:nvPr>
        </p:nvSpPr>
        <p:spPr>
          <a:xfrm>
            <a:off x="1400175" y="4638722"/>
            <a:ext cx="983874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Título e texto">
  <p:cSld name="1_Slide Título e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idx="1" type="subTitle"/>
          </p:nvPr>
        </p:nvSpPr>
        <p:spPr>
          <a:xfrm>
            <a:off x="969034" y="1468581"/>
            <a:ext cx="10292001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2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Final">
  <p:cSld name="Capa Fin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lide Texto e Imagem">
  <p:cSld name="2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969034" y="692989"/>
            <a:ext cx="5302457" cy="521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9" name="Google Shape;19;p8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lide Título, Texto e Imagem">
  <p:cSld name="3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969034" y="1468581"/>
            <a:ext cx="5302457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2" name="Google Shape;22;p9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9"/>
          <p:cNvSpPr txBox="1"/>
          <p:nvPr>
            <p:ph idx="3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lide Título+Texto">
  <p:cSld name="4_Slide Título+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960438" y="1468438"/>
            <a:ext cx="10280650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960439" y="676275"/>
            <a:ext cx="7735886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lide Texto e Imagem">
  <p:cSld name="5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02020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11"/>
          <p:cNvSpPr/>
          <p:nvPr>
            <p:ph idx="2" type="pic"/>
          </p:nvPr>
        </p:nvSpPr>
        <p:spPr>
          <a:xfrm>
            <a:off x="6898844" y="1579563"/>
            <a:ext cx="4368800" cy="46545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lide Título, Texto e Imagem">
  <p:cSld name="6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6898844" y="1828367"/>
            <a:ext cx="4368800" cy="4405746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2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3" type="body"/>
          </p:nvPr>
        </p:nvSpPr>
        <p:spPr>
          <a:xfrm>
            <a:off x="887413" y="1171575"/>
            <a:ext cx="5283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lide Texto, Imagem e Legenda">
  <p:cSld name="7_Slide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13"/>
          <p:cNvSpPr/>
          <p:nvPr>
            <p:ph idx="2" type="pic"/>
          </p:nvPr>
        </p:nvSpPr>
        <p:spPr>
          <a:xfrm>
            <a:off x="6898844" y="1579563"/>
            <a:ext cx="4368800" cy="3685164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3"/>
          <p:cNvSpPr txBox="1"/>
          <p:nvPr>
            <p:ph idx="3" type="body"/>
          </p:nvPr>
        </p:nvSpPr>
        <p:spPr>
          <a:xfrm>
            <a:off x="6899275" y="5619750"/>
            <a:ext cx="4368800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lide Título, Texto, Imagem e Legenda">
  <p:cSld name="8_Slide Título,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0" name="Google Shape;40;p14"/>
          <p:cNvSpPr/>
          <p:nvPr>
            <p:ph idx="2" type="pic"/>
          </p:nvPr>
        </p:nvSpPr>
        <p:spPr>
          <a:xfrm>
            <a:off x="6898844" y="1828799"/>
            <a:ext cx="4368800" cy="3435928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4"/>
          <p:cNvSpPr txBox="1"/>
          <p:nvPr>
            <p:ph idx="3" type="body"/>
          </p:nvPr>
        </p:nvSpPr>
        <p:spPr>
          <a:xfrm>
            <a:off x="6899275" y="5610225"/>
            <a:ext cx="4368800" cy="62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4" type="body"/>
          </p:nvPr>
        </p:nvSpPr>
        <p:spPr>
          <a:xfrm>
            <a:off x="887413" y="1181100"/>
            <a:ext cx="5283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lide Imagens e Legendas">
  <p:cSld name="9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>
            <p:ph idx="2" type="pic"/>
          </p:nvPr>
        </p:nvSpPr>
        <p:spPr>
          <a:xfrm>
            <a:off x="913986" y="1466850"/>
            <a:ext cx="5027949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5"/>
          <p:cNvSpPr/>
          <p:nvPr>
            <p:ph idx="3" type="pic"/>
          </p:nvPr>
        </p:nvSpPr>
        <p:spPr>
          <a:xfrm>
            <a:off x="6409523" y="1466849"/>
            <a:ext cx="4839101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914401" y="5394325"/>
            <a:ext cx="50279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409522" y="5387974"/>
            <a:ext cx="4839102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5" type="body"/>
          </p:nvPr>
        </p:nvSpPr>
        <p:spPr>
          <a:xfrm>
            <a:off x="913986" y="781050"/>
            <a:ext cx="1033463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lide Imagens e Legendas">
  <p:cSld name="10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/>
          <p:nvPr>
            <p:ph idx="2" type="pic"/>
          </p:nvPr>
        </p:nvSpPr>
        <p:spPr>
          <a:xfrm>
            <a:off x="914401" y="793750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6"/>
          <p:cNvSpPr/>
          <p:nvPr>
            <p:ph idx="3" type="pic"/>
          </p:nvPr>
        </p:nvSpPr>
        <p:spPr>
          <a:xfrm>
            <a:off x="4447165" y="800893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6"/>
          <p:cNvSpPr/>
          <p:nvPr>
            <p:ph idx="4" type="pic"/>
          </p:nvPr>
        </p:nvSpPr>
        <p:spPr>
          <a:xfrm>
            <a:off x="7951369" y="793749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lide Título, Imagens e Legendas">
  <p:cSld name="11_Slide Título,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>
            <p:ph idx="2" type="pic"/>
          </p:nvPr>
        </p:nvSpPr>
        <p:spPr>
          <a:xfrm>
            <a:off x="914401" y="1373982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/>
          <p:nvPr>
            <p:ph idx="3" type="pic"/>
          </p:nvPr>
        </p:nvSpPr>
        <p:spPr>
          <a:xfrm>
            <a:off x="4447165" y="1381125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7"/>
          <p:cNvSpPr/>
          <p:nvPr>
            <p:ph idx="4" type="pic"/>
          </p:nvPr>
        </p:nvSpPr>
        <p:spPr>
          <a:xfrm>
            <a:off x="7951369" y="1373981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7" type="body"/>
          </p:nvPr>
        </p:nvSpPr>
        <p:spPr>
          <a:xfrm>
            <a:off x="800100" y="762000"/>
            <a:ext cx="104489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apa Interna 01">
  <p:cSld name="12_Capa Interna 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733425" y="3752850"/>
            <a:ext cx="107251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4572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4572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4572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4572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apa Interna 02">
  <p:cSld name="13_Capa Interna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733425" y="3762375"/>
            <a:ext cx="107251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lide Imagem">
  <p:cSld name="14_Slid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/>
          <p:nvPr>
            <p:ph idx="2" type="pic"/>
          </p:nvPr>
        </p:nvSpPr>
        <p:spPr>
          <a:xfrm>
            <a:off x="914400" y="796419"/>
            <a:ext cx="10353111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lide Imagem e Legenda">
  <p:cSld name="15_Slide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/>
          <p:nvPr>
            <p:ph idx="2" type="pic"/>
          </p:nvPr>
        </p:nvSpPr>
        <p:spPr>
          <a:xfrm>
            <a:off x="914400" y="796419"/>
            <a:ext cx="10353111" cy="4337556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914400" y="5394325"/>
            <a:ext cx="1035311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lide Imagens">
  <p:cSld name="16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2"/>
          <p:cNvSpPr/>
          <p:nvPr>
            <p:ph idx="3" type="pic"/>
          </p:nvPr>
        </p:nvSpPr>
        <p:spPr>
          <a:xfrm>
            <a:off x="6196749" y="796418"/>
            <a:ext cx="5070763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lide Imagens e Legendas">
  <p:cSld name="17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>
            <p:ph idx="2" type="pic"/>
          </p:nvPr>
        </p:nvSpPr>
        <p:spPr>
          <a:xfrm>
            <a:off x="914401" y="796419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/>
          <p:nvPr>
            <p:ph idx="3" type="pic"/>
          </p:nvPr>
        </p:nvSpPr>
        <p:spPr>
          <a:xfrm>
            <a:off x="6196749" y="796418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914400" y="5524500"/>
            <a:ext cx="50704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4" type="body"/>
          </p:nvPr>
        </p:nvSpPr>
        <p:spPr>
          <a:xfrm>
            <a:off x="6196013" y="5524500"/>
            <a:ext cx="5072062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lide Imagens">
  <p:cSld name="18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4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4"/>
          <p:cNvSpPr/>
          <p:nvPr>
            <p:ph idx="4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Imagens">
  <p:cSld name="19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>
            <p:ph idx="2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5"/>
          <p:cNvSpPr/>
          <p:nvPr>
            <p:ph idx="3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5"/>
          <p:cNvSpPr/>
          <p:nvPr>
            <p:ph idx="4" type="pic"/>
          </p:nvPr>
        </p:nvSpPr>
        <p:spPr>
          <a:xfrm>
            <a:off x="914401" y="806083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5"/>
          <p:cNvSpPr/>
          <p:nvPr>
            <p:ph idx="5" type="pic"/>
          </p:nvPr>
        </p:nvSpPr>
        <p:spPr>
          <a:xfrm>
            <a:off x="914401" y="3516964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Textos e Imagens">
  <p:cSld name="19_Slide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6"/>
          <p:cNvSpPr txBox="1"/>
          <p:nvPr>
            <p:ph idx="1" type="body"/>
          </p:nvPr>
        </p:nvSpPr>
        <p:spPr>
          <a:xfrm>
            <a:off x="924489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95" name="Google Shape;95;p26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idx="4" type="body"/>
          </p:nvPr>
        </p:nvSpPr>
        <p:spPr>
          <a:xfrm>
            <a:off x="6305550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lide Título, Textos e Imagens">
  <p:cSld name="20_Slide Título,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924489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0" name="Google Shape;100;p27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7"/>
          <p:cNvSpPr txBox="1"/>
          <p:nvPr>
            <p:ph idx="4" type="body"/>
          </p:nvPr>
        </p:nvSpPr>
        <p:spPr>
          <a:xfrm>
            <a:off x="6305550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5" type="body"/>
          </p:nvPr>
        </p:nvSpPr>
        <p:spPr>
          <a:xfrm>
            <a:off x="828675" y="762000"/>
            <a:ext cx="10439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lide Imagens">
  <p:cSld name="21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>
            <p:ph idx="2" type="pic"/>
          </p:nvPr>
        </p:nvSpPr>
        <p:spPr>
          <a:xfrm>
            <a:off x="914401" y="79641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8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8"/>
          <p:cNvSpPr/>
          <p:nvPr>
            <p:ph idx="4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8"/>
          <p:cNvSpPr/>
          <p:nvPr>
            <p:ph idx="5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8"/>
          <p:cNvSpPr/>
          <p:nvPr>
            <p:ph idx="6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lide Imagens">
  <p:cSld name="22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>
            <p:ph idx="2" type="pic"/>
          </p:nvPr>
        </p:nvSpPr>
        <p:spPr>
          <a:xfrm>
            <a:off x="914401" y="796419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9"/>
          <p:cNvSpPr/>
          <p:nvPr>
            <p:ph idx="3" type="pic"/>
          </p:nvPr>
        </p:nvSpPr>
        <p:spPr>
          <a:xfrm>
            <a:off x="4447165" y="803562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9"/>
          <p:cNvSpPr/>
          <p:nvPr>
            <p:ph idx="4" type="pic"/>
          </p:nvPr>
        </p:nvSpPr>
        <p:spPr>
          <a:xfrm>
            <a:off x="7951369" y="796418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9"/>
          <p:cNvSpPr/>
          <p:nvPr>
            <p:ph idx="5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9"/>
          <p:cNvSpPr/>
          <p:nvPr>
            <p:ph idx="6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9"/>
          <p:cNvSpPr/>
          <p:nvPr>
            <p:ph idx="7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galileu.coltec.ufmg.br/fantini/hp/CursoBD/Curso/Mysql_XX_Projetos_Parte03_ModeloLogico.php" TargetMode="External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type="title"/>
          </p:nvPr>
        </p:nvSpPr>
        <p:spPr>
          <a:xfrm>
            <a:off x="1400175" y="2790825"/>
            <a:ext cx="98388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</a:pPr>
            <a:r>
              <a:rPr lang="pt-BR" sz="4200">
                <a:solidFill>
                  <a:srgbClr val="202020"/>
                </a:solidFill>
              </a:rPr>
              <a:t>Modelagem Informacional</a:t>
            </a:r>
            <a:endParaRPr sz="4200">
              <a:solidFill>
                <a:srgbClr val="202020"/>
              </a:solidFill>
            </a:endParaRPr>
          </a:p>
        </p:txBody>
      </p:sp>
      <p:sp>
        <p:nvSpPr>
          <p:cNvPr id="121" name="Google Shape;121;p1"/>
          <p:cNvSpPr txBox="1"/>
          <p:nvPr>
            <p:ph idx="1" type="body"/>
          </p:nvPr>
        </p:nvSpPr>
        <p:spPr>
          <a:xfrm>
            <a:off x="1400200" y="40673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Aula 03 - </a:t>
            </a:r>
            <a:r>
              <a:rPr lang="pt-BR" sz="2100">
                <a:solidFill>
                  <a:srgbClr val="202020"/>
                </a:solidFill>
              </a:rPr>
              <a:t>Modelagem Relacional, DER e Formas Normais</a:t>
            </a:r>
            <a:endParaRPr sz="2000">
              <a:solidFill>
                <a:srgbClr val="202020"/>
              </a:solidFill>
            </a:endParaRPr>
          </a:p>
        </p:txBody>
      </p:sp>
      <p:sp>
        <p:nvSpPr>
          <p:cNvPr id="122" name="Google Shape;122;p1"/>
          <p:cNvSpPr txBox="1"/>
          <p:nvPr>
            <p:ph idx="1" type="body"/>
          </p:nvPr>
        </p:nvSpPr>
        <p:spPr>
          <a:xfrm>
            <a:off x="1400200" y="59638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Prof. Dr. Wagner de A. Perin</a:t>
            </a:r>
            <a:endParaRPr sz="200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cfaf56cc_0_2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Nas Aulas 01 e 02, exploramos a camada física do armazenamento e as diferenças entre Dados Estruturados (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), Semi-estruturados (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JSON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 e Não Estruturados (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Texto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), provando o valor do formato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Parquet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e do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Schema-on-Read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Data Lakes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 entanto, o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ponto de origem da grande maioria dos dados corporativos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são os sistemas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OLTP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Online Transaction Processing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). Como estruturar esses dados na origem para evitar inconsistências graves e corrupção da informação primária?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Hoje vamos explorar a 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modelagem relacional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transacional e aprenderemos como salvar o negócio de desastres operacionais utilizando a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Terceira Forma Normal (3FN)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f5cfaf56cc_0_2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pt-BR" sz="2200">
                <a:solidFill>
                  <a:srgbClr val="B41B26"/>
                </a:solidFill>
              </a:rPr>
              <a:t>Warm-up</a:t>
            </a:r>
            <a:endParaRPr b="0" i="1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74a5c673_0_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TechPeople armazena todos os dados de seus </a:t>
            </a:r>
            <a:r>
              <a:rPr i="1" lang="pt-BR" u="sng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2.000 colaboradores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em uma única '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planilha monstro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' desnormalizada de </a:t>
            </a:r>
            <a:r>
              <a:rPr i="1" lang="pt-BR" u="sng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50 colunas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 A planilha mistura dados de funcionários, dependentes, departamentos, cargos, salários, alocações em projetos e planos de saúde.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Impacto do Caos: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Poppins"/>
              <a:buAutoNum type="arabicPeriod"/>
            </a:pPr>
            <a:r>
              <a:rPr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Toda vez que um desenvolvedor muda de cargo ou departamento, a equipe de RH precisa atualizar manualmente dezenas de linhas.</a:t>
            </a:r>
            <a:endParaRPr sz="14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Poppins"/>
              <a:buAutoNum type="arabicPeriod"/>
            </a:pPr>
            <a:r>
              <a:rPr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Mês passado, um erro de digitação durante a atualização do salário de um cargo gerou pagamentos inconsistentes (pagando a mais para uns, a menos para outros).</a:t>
            </a:r>
            <a:endParaRPr sz="14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Poppins"/>
              <a:buAutoNum type="arabicPeriod"/>
            </a:pPr>
            <a:r>
              <a:rPr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 exclusão acidental da linha de uma funcionária demitida apagou permanentemente todo o histórico de um projeto estratégico da empresa!</a:t>
            </a:r>
            <a:endParaRPr sz="14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g3f674a5c673_0_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Dor de Negócio no RH da </a:t>
            </a:r>
            <a:r>
              <a:rPr i="1" lang="pt-BR" sz="2200">
                <a:solidFill>
                  <a:srgbClr val="B41B26"/>
                </a:solidFill>
              </a:rPr>
              <a:t>TechPeople</a:t>
            </a:r>
            <a:endParaRPr b="0" i="1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74a5c673_0_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Uma visão da tabela universal não normalizada:</a:t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Quais os problemas?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mistura de diferentes ’contextos de negócio’ em uma única estrutura plana gera repetição extrema de informações e impossibilita atualizações seguras.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g3f674a5c673_0_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pt-BR" sz="2200">
                <a:solidFill>
                  <a:srgbClr val="B41B26"/>
                </a:solidFill>
              </a:rPr>
              <a:t>A Anatomia da</a:t>
            </a:r>
            <a:r>
              <a:rPr lang="pt-BR" sz="2200">
                <a:solidFill>
                  <a:srgbClr val="B41B26"/>
                </a:solidFill>
              </a:rPr>
              <a:t> Planilha Monstro</a:t>
            </a:r>
            <a:endParaRPr b="0" i="1" sz="2200">
              <a:solidFill>
                <a:srgbClr val="B41B26"/>
              </a:solidFill>
            </a:endParaRPr>
          </a:p>
        </p:txBody>
      </p:sp>
      <p:pic>
        <p:nvPicPr>
          <p:cNvPr id="141" name="Google Shape;141;g3f674a5c673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025" y="1925000"/>
            <a:ext cx="10292099" cy="123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f13bc3da_0_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Por que planilhas e ’tabelas universais’ são uma bomba-relógio para sistemas operacionais?</a:t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Anomalia de Inserção: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Como cadastrar um novo ’Cargo’ (ex: Tech Lead com salário de 15.000) se ainda não contratamos nenhum funcionário para ocupá-lo? Em uma tabela plana, a linha ficaria quase toda vazia ou não seria possível inserir o cargo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.</a:t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Anomalia de Atualização (Modificação):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o cargo ’Dev’ receber um aumento para 9.000, temos que atualizar MÚLTIPLAS linhas. Se esquecermos uma linha (ou houver erro de rede), Ana terá um salário e Caio terá outro. A base ficará inconsistente.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Anomalia de Exclusão: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deletarmos o Beto Lima da base (único PO alocado no Projeto P2), nós excluiremos junto os dados do Projeto P2. Perdemos a informação de que o projeto existiu!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g3f6f13bc3da_0_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Pesadelo das Anomalias de Atualização</a:t>
            </a:r>
            <a:endParaRPr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674a5c673_0_1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Vamos refletir sobre os impactos estruturais das tabelas planas: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/>
              <a:t>Se um funcionário tem 3 dependentes e trabalha em 2 projetos, como representar essa informação em uma planilha plana sem duplicar o salário e os dados dele 6 vezes?</a:t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●"/>
            </a:pPr>
            <a:r>
              <a:rPr lang="pt-BR"/>
              <a:t>O que acontece financeiramente com a </a:t>
            </a:r>
            <a:r>
              <a:rPr i="1" lang="pt-BR"/>
              <a:t>TechPeople </a:t>
            </a:r>
            <a:r>
              <a:rPr lang="pt-BR"/>
              <a:t>se a anomalia de atualização não for corrigida no sistema de folha de pagamento?</a:t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Char char="●"/>
            </a:pPr>
            <a:r>
              <a:rPr lang="pt-BR"/>
              <a:t>Por que a responsabilidade de manter os dados consistentes NÃO DEVE recair sobre a "boa vontade" ou "atenção" do analista de RH? De quem é a responsabilidade técnica?</a:t>
            </a:r>
            <a:endParaRPr/>
          </a:p>
        </p:txBody>
      </p:sp>
      <p:sp>
        <p:nvSpPr>
          <p:cNvPr id="153" name="Google Shape;153;g3f674a5c673_0_1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Reflexão Analítica &amp; Alinhamento Estratégico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54" name="Google Shape;154;g3f674a5c673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950" y="1324300"/>
            <a:ext cx="10292099" cy="123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f13bc3da_0_1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 solução para a 'Planilha Monstro' começa na </a:t>
            </a:r>
            <a:r>
              <a:rPr i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abstração do mundo real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 O Modelo Entidade-Relacionamento permite </a:t>
            </a:r>
            <a:r>
              <a:rPr b="1"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mapear o negócio</a:t>
            </a:r>
            <a:r>
              <a:rPr lang="pt-BR" sz="18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antes de escrever qualquer código SQL.</a:t>
            </a:r>
            <a:endParaRPr sz="18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Entidades Fortes: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Existem por conta própria (ex: Funcionario, Departamento, Projeto).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Entidades Fracas: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Dependem de outra entidade para existir (ex: Dependente. Sem o funcionário, o dependente não tem contexto para o RH).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Atributos:</a:t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Poppins"/>
              <a:buChar char="○"/>
            </a:pPr>
            <a:r>
              <a:rPr b="1"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Simples: </a:t>
            </a:r>
            <a:r>
              <a:rPr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Propriedades atômicas (ex: Salário_Base).</a:t>
            </a:r>
            <a:endParaRPr sz="14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Poppins"/>
              <a:buChar char="○"/>
            </a:pPr>
            <a:r>
              <a:rPr b="1"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Compostos: </a:t>
            </a:r>
            <a:r>
              <a:rPr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Podem ser divididos (ex: Endereço = Rua, Número, CEP).</a:t>
            </a:r>
            <a:endParaRPr sz="14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Poppins"/>
              <a:buChar char="○"/>
            </a:pPr>
            <a:r>
              <a:rPr b="1"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Multivalorados: </a:t>
            </a:r>
            <a:r>
              <a:rPr lang="pt-BR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Aceitam múltiplos valores (ex: Telefones). Spoiler: bancos relacionais odeiam isso!</a:t>
            </a:r>
            <a:endParaRPr sz="14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Como transformar o cenário complexo do RH em blocos lógicos autônomos que conversem entre si de forma segura?</a:t>
            </a:r>
            <a:endParaRPr b="1"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g3f6f13bc3da_0_1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Modelo Entidade-Relacionamento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61" name="Google Shape;161;g3f6f13bc3d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063" y="204788"/>
            <a:ext cx="10429875" cy="6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f13bc3da_0_2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g3f6f13bc3da_0_2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Diagrama Entidade-Relacionamentos (DER)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68" name="Google Shape;168;g3f6f13bc3da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351" y="1468575"/>
            <a:ext cx="8357148" cy="44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6f13bc3da_0_2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Para garantir que cada entidade seja única e referenciável, as chaves são a lei.</a:t>
            </a:r>
            <a:endParaRPr b="1" i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Chave Primária (</a:t>
            </a:r>
            <a:r>
              <a:rPr b="1"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Primary Key - PK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): </a:t>
            </a:r>
            <a:r>
              <a:rPr lang="pt-BR">
                <a:solidFill>
                  <a:srgbClr val="3B3B3B"/>
                </a:solidFill>
              </a:rPr>
              <a:t>Identificador exclusivo de um registro na tabela. Nunca pode ser nulo (</a:t>
            </a:r>
            <a:r>
              <a:rPr i="1" lang="pt-BR">
                <a:solidFill>
                  <a:srgbClr val="3B3B3B"/>
                </a:solidFill>
              </a:rPr>
              <a:t>NOT NULL</a:t>
            </a:r>
            <a:r>
              <a:rPr lang="pt-BR">
                <a:solidFill>
                  <a:srgbClr val="3B3B3B"/>
                </a:solidFill>
              </a:rPr>
              <a:t>) e não se repete (</a:t>
            </a:r>
            <a:r>
              <a:rPr i="1" lang="pt-BR">
                <a:solidFill>
                  <a:srgbClr val="3B3B3B"/>
                </a:solidFill>
              </a:rPr>
              <a:t>UNIQUE</a:t>
            </a:r>
            <a:r>
              <a:rPr lang="pt-BR">
                <a:solidFill>
                  <a:srgbClr val="3B3B3B"/>
                </a:solidFill>
              </a:rPr>
              <a:t>). (Ex: </a:t>
            </a:r>
            <a:r>
              <a:rPr i="1" lang="pt-BR">
                <a:solidFill>
                  <a:srgbClr val="3B3B3B"/>
                </a:solidFill>
              </a:rPr>
              <a:t>id_func</a:t>
            </a:r>
            <a:r>
              <a:rPr lang="pt-BR">
                <a:solidFill>
                  <a:srgbClr val="3B3B3B"/>
                </a:solidFill>
              </a:rPr>
              <a:t>).</a:t>
            </a:r>
            <a:endParaRPr>
              <a:solidFill>
                <a:srgbClr val="3B3B3B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Chave Única ou Candidata (</a:t>
            </a:r>
            <a:r>
              <a:rPr b="1"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Unique Key - UK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): </a:t>
            </a:r>
            <a:r>
              <a:rPr lang="pt-BR">
                <a:solidFill>
                  <a:srgbClr val="3B3B3B"/>
                </a:solidFill>
              </a:rPr>
              <a:t>Um atributo que não é a </a:t>
            </a:r>
            <a:r>
              <a:rPr i="1" lang="pt-BR">
                <a:solidFill>
                  <a:srgbClr val="3B3B3B"/>
                </a:solidFill>
              </a:rPr>
              <a:t>PK</a:t>
            </a:r>
            <a:r>
              <a:rPr lang="pt-BR">
                <a:solidFill>
                  <a:srgbClr val="3B3B3B"/>
                </a:solidFill>
              </a:rPr>
              <a:t>, mas também identifica o registro de forma única e evita duplicidade acidental no cadastro. (Ex: CPF ou CNPJ).</a:t>
            </a:r>
            <a:endParaRPr>
              <a:solidFill>
                <a:srgbClr val="3B3B3B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Chave Estrangeira (</a:t>
            </a:r>
            <a:r>
              <a:rPr b="1"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Foreign Key - FK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): </a:t>
            </a:r>
            <a:r>
              <a:rPr lang="pt-BR">
                <a:solidFill>
                  <a:srgbClr val="3B3B3B"/>
                </a:solidFill>
              </a:rPr>
              <a:t>É um atributo em uma tabela que é Chave Primária em OUTRA tabela. É ela que cria o Relacionamento e garante a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Integridade Referencial</a:t>
            </a:r>
            <a:r>
              <a:rPr lang="pt-BR">
                <a:solidFill>
                  <a:srgbClr val="3B3B3B"/>
                </a:solidFill>
              </a:rPr>
              <a:t>. (Ex: </a:t>
            </a:r>
            <a:r>
              <a:rPr i="1" lang="pt-BR">
                <a:solidFill>
                  <a:srgbClr val="3B3B3B"/>
                </a:solidFill>
              </a:rPr>
              <a:t>id_depto </a:t>
            </a:r>
            <a:r>
              <a:rPr lang="pt-BR">
                <a:solidFill>
                  <a:srgbClr val="3B3B3B"/>
                </a:solidFill>
              </a:rPr>
              <a:t>dentro da tabela de Funcionarios).</a:t>
            </a:r>
            <a:endParaRPr>
              <a:solidFill>
                <a:srgbClr val="3B3B3B"/>
              </a:solidFill>
            </a:endParaRPr>
          </a:p>
        </p:txBody>
      </p:sp>
      <p:sp>
        <p:nvSpPr>
          <p:cNvPr id="174" name="Google Shape;174;g3f6f13bc3da_0_2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Anatomia das Chaves (</a:t>
            </a:r>
            <a:r>
              <a:rPr b="0" lang="pt-BR" sz="2200">
                <a:solidFill>
                  <a:srgbClr val="B41B26"/>
                </a:solidFill>
              </a:rPr>
              <a:t>A Fundação do Relacional</a:t>
            </a:r>
            <a:r>
              <a:rPr lang="pt-BR" sz="2200">
                <a:solidFill>
                  <a:srgbClr val="B41B26"/>
                </a:solidFill>
              </a:rPr>
              <a:t>)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6f13bc3da_0_34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B3B3B"/>
                </a:solidFill>
              </a:rPr>
              <a:t>Como as entidades </a:t>
            </a:r>
            <a:r>
              <a:rPr b="1" lang="pt-BR" sz="2000" u="sng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conversam entre si</a:t>
            </a:r>
            <a:r>
              <a:rPr lang="pt-BR" sz="2000">
                <a:solidFill>
                  <a:srgbClr val="3B3B3B"/>
                </a:solidFill>
              </a:rPr>
              <a:t> no mundo relacional?</a:t>
            </a:r>
            <a:endParaRPr sz="2000">
              <a:solidFill>
                <a:srgbClr val="3B3B3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1:1 (Um para Um): </a:t>
            </a:r>
            <a:r>
              <a:rPr lang="pt-BR">
                <a:solidFill>
                  <a:srgbClr val="3B3B3B"/>
                </a:solidFill>
              </a:rPr>
              <a:t>Um gerente gerencia um departamento, e um departamento tem apenas um gerente. (Raro, geralmente indica que poderiam ser a mesma tabela).</a:t>
            </a:r>
            <a:endParaRPr>
              <a:solidFill>
                <a:srgbClr val="3B3B3B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B3B3B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1:N (Um para Muitos): </a:t>
            </a:r>
            <a:r>
              <a:rPr lang="pt-BR">
                <a:solidFill>
                  <a:srgbClr val="3B3B3B"/>
                </a:solidFill>
              </a:rPr>
              <a:t>Um Departamento possui MUITOS funcionários. Um Cargo abriga MUITOS funcionários. (A </a:t>
            </a:r>
            <a:r>
              <a:rPr i="1" lang="pt-BR">
                <a:solidFill>
                  <a:srgbClr val="3B3B3B"/>
                </a:solidFill>
              </a:rPr>
              <a:t>FK </a:t>
            </a:r>
            <a:r>
              <a:rPr lang="pt-BR">
                <a:solidFill>
                  <a:srgbClr val="3B3B3B"/>
                </a:solidFill>
              </a:rPr>
              <a:t>sempre fica na tabela do 'Muitos').</a:t>
            </a:r>
            <a:endParaRPr>
              <a:solidFill>
                <a:srgbClr val="3B3B3B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N:M (Muitos para Muitos): </a:t>
            </a:r>
            <a:r>
              <a:rPr lang="pt-BR">
                <a:solidFill>
                  <a:srgbClr val="3B3B3B"/>
                </a:solidFill>
              </a:rPr>
              <a:t>Um Funcionário pode estar alocado em MUITOS projetos, e um Projeto possui MUITOS funcionários.</a:t>
            </a:r>
            <a:endParaRPr>
              <a:solidFill>
                <a:srgbClr val="3B3B3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Regra de Ouro: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3B3B3B"/>
                </a:solidFill>
              </a:rPr>
              <a:t>Banco relacional NÃO SUPORTA relação N:M diretamente. Ela deve ser quebrada em uma nova tabela (</a:t>
            </a:r>
            <a:r>
              <a:rPr i="1" lang="pt-BR">
                <a:solidFill>
                  <a:srgbClr val="3B3B3B"/>
                </a:solidFill>
              </a:rPr>
              <a:t>Tabela Associativa ou de Junção</a:t>
            </a:r>
            <a:r>
              <a:rPr lang="pt-BR">
                <a:solidFill>
                  <a:srgbClr val="3B3B3B"/>
                </a:solidFill>
              </a:rPr>
              <a:t>) contendo duas Chaves Estrangeiras!</a:t>
            </a:r>
            <a:endParaRPr>
              <a:solidFill>
                <a:srgbClr val="3B3B3B"/>
              </a:solidFill>
            </a:endParaRPr>
          </a:p>
        </p:txBody>
      </p:sp>
      <p:sp>
        <p:nvSpPr>
          <p:cNvPr id="180" name="Google Shape;180;g3f6f13bc3da_0_34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Relacionamentos e Cardinalidades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f13bc3da_0_3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g3f6f13bc3da_0_3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Relacionamentos e Cardinalidades</a:t>
            </a:r>
            <a:endParaRPr b="0"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87" name="Google Shape;187;g3f6f13bc3da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025" y="1209750"/>
            <a:ext cx="4735525" cy="518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f6f13bc3da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2400" y="1209750"/>
            <a:ext cx="5397543" cy="518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f6f13bc3da_0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2299" y="609663"/>
            <a:ext cx="6936699" cy="61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f13bc3da_0_55"/>
          <p:cNvSpPr txBox="1"/>
          <p:nvPr>
            <p:ph idx="1" type="subTitle"/>
          </p:nvPr>
        </p:nvSpPr>
        <p:spPr>
          <a:xfrm>
            <a:off x="979040" y="1468575"/>
            <a:ext cx="68979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Etapa 1 - Mapeamento das Entidades</a:t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Etapa 2 - Entidade Fraca ( Relacionamento Identificador)</a:t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Etapa 3 - Atributos Compostos</a:t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Etapa 4 - Atributo multivalorado</a:t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Etapa 5- Mapeando Relacionamentos</a:t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Detalhes podem ser compreendidos </a:t>
            </a:r>
            <a:r>
              <a:rPr b="1" lang="pt-BR" sz="1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neste link</a:t>
            </a:r>
            <a:endParaRPr b="1"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g3f6f13bc3da_0_5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pt-BR" sz="2200">
                <a:solidFill>
                  <a:srgbClr val="B41B26"/>
                </a:solidFill>
              </a:rPr>
              <a:t>Mapeamento para o </a:t>
            </a:r>
            <a:r>
              <a:rPr lang="pt-BR" sz="2200">
                <a:solidFill>
                  <a:srgbClr val="B41B26"/>
                </a:solidFill>
              </a:rPr>
              <a:t>Modelo Relacional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196" name="Google Shape;196;g3f6f13bc3da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6950" y="1150700"/>
            <a:ext cx="4325050" cy="57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f13bc3da_0_65"/>
          <p:cNvSpPr txBox="1"/>
          <p:nvPr>
            <p:ph idx="1" type="subTitle"/>
          </p:nvPr>
        </p:nvSpPr>
        <p:spPr>
          <a:xfrm>
            <a:off x="979055" y="1468575"/>
            <a:ext cx="102609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Normalização </a:t>
            </a:r>
            <a:r>
              <a:rPr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é a aplicação de regras matemáticas rígidas para eliminar a redundância de dados e as anomalias operacionais.</a:t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Criada por </a:t>
            </a:r>
            <a:r>
              <a:rPr i="1" lang="pt-BR" sz="2000" u="sng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Edgar F. Codd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(pai do banco de dados relacional), a normalização garante que os dados estejam no lugar certo, pela razão certa.</a:t>
            </a:r>
            <a:endParaRPr i="1"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Vamos aplicar as </a:t>
            </a:r>
            <a:r>
              <a:rPr b="1" lang="pt-BR" sz="19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Três Formas Normais</a:t>
            </a:r>
            <a:r>
              <a:rPr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à Planilha Monstro da </a:t>
            </a:r>
            <a:r>
              <a:rPr i="1"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TechPeople</a:t>
            </a:r>
            <a:r>
              <a:rPr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sz="19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g3f6f13bc3da_0_6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pt-BR" sz="2200">
                <a:solidFill>
                  <a:srgbClr val="B41B26"/>
                </a:solidFill>
              </a:rPr>
              <a:t>O Processo de </a:t>
            </a:r>
            <a:r>
              <a:rPr lang="pt-BR" sz="2200">
                <a:solidFill>
                  <a:srgbClr val="B41B26"/>
                </a:solidFill>
              </a:rPr>
              <a:t>Normalização</a:t>
            </a:r>
            <a:r>
              <a:rPr b="0" lang="pt-BR" sz="2200">
                <a:solidFill>
                  <a:srgbClr val="B41B26"/>
                </a:solidFill>
              </a:rPr>
              <a:t> de Dados</a:t>
            </a:r>
            <a:endParaRPr b="0"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6f13bc3da_0_71"/>
          <p:cNvSpPr txBox="1"/>
          <p:nvPr>
            <p:ph idx="1" type="subTitle"/>
          </p:nvPr>
        </p:nvSpPr>
        <p:spPr>
          <a:xfrm>
            <a:off x="979055" y="1468575"/>
            <a:ext cx="102609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Normalização </a:t>
            </a:r>
            <a:r>
              <a:rPr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é a aplicação de regras matemáticas rígidas para eliminar a redundância de dados e as anomalias operacionais.</a:t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Criada por </a:t>
            </a:r>
            <a:r>
              <a:rPr i="1" lang="pt-BR" sz="2000" u="sng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Edgar F. Codd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(pai do banco de dados relacional), a normalização garante que os dados estejam no lugar certo, pela razão certa.</a:t>
            </a:r>
            <a:endParaRPr i="1"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Reflexão: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Redundância controlada em </a:t>
            </a:r>
            <a:r>
              <a:rPr i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Data Warehouses</a:t>
            </a:r>
            <a:r>
              <a:rPr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(Aula 04) é útil para leitura, mas em sistemas produtivos (</a:t>
            </a:r>
            <a:r>
              <a:rPr i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OLTP</a:t>
            </a:r>
            <a:r>
              <a:rPr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), a redundância é </a:t>
            </a:r>
            <a:r>
              <a:rPr b="1" lang="pt-BR" sz="1400" u="sng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causa raiz da inconsistência de dados</a:t>
            </a:r>
            <a:r>
              <a:rPr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9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Vamos aplicar as </a:t>
            </a:r>
            <a:r>
              <a:rPr b="1" lang="pt-BR" sz="19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Três Formas Normais</a:t>
            </a:r>
            <a:r>
              <a:rPr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à Planilha Monstro da </a:t>
            </a:r>
            <a:r>
              <a:rPr i="1"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TechPeople</a:t>
            </a:r>
            <a:r>
              <a:rPr lang="pt-BR" sz="19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sz="19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g3f6f13bc3da_0_7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pt-BR" sz="2200">
                <a:solidFill>
                  <a:srgbClr val="B41B26"/>
                </a:solidFill>
              </a:rPr>
              <a:t>O Processo de </a:t>
            </a:r>
            <a:r>
              <a:rPr lang="pt-BR" sz="2200">
                <a:solidFill>
                  <a:srgbClr val="B41B26"/>
                </a:solidFill>
              </a:rPr>
              <a:t>Normalização</a:t>
            </a:r>
            <a:r>
              <a:rPr b="0" lang="pt-BR" sz="2200">
                <a:solidFill>
                  <a:srgbClr val="B41B26"/>
                </a:solidFill>
              </a:rPr>
              <a:t> de Dados</a:t>
            </a:r>
            <a:endParaRPr b="0"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6f13bc3da_0_77"/>
          <p:cNvSpPr txBox="1"/>
          <p:nvPr>
            <p:ph idx="1" type="subTitle"/>
          </p:nvPr>
        </p:nvSpPr>
        <p:spPr>
          <a:xfrm>
            <a:off x="979055" y="1468575"/>
            <a:ext cx="102609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Regra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Uma tabela está na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1FN 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todos os seus atributos são atômicos (indivisíveis) e se ela possui uma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Chave Primária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definida. Não podem existir listas, arrays ou grupos repetitivos em uma coluna.</a:t>
            </a:r>
            <a:endParaRPr i="1"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Problema da Planilha Monstro: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 coluna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Dependentes 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continha "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João, Maria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".</a:t>
            </a:r>
            <a:endParaRPr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 coluna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Projetos 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continha "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P1, P2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".</a:t>
            </a:r>
            <a:endParaRPr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Solução na 1FN: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Separar atributos multivalorados em novas tabelas, ligadas por Chave Estrangeira.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Criamos a tabela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Dependentes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(1:N com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Funcionarios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 e quebramos o relacionamento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N:M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Projetos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criando a tabela associativa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Alocações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f6f13bc3da_0_77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1FN</a:t>
            </a:r>
            <a:r>
              <a:rPr b="0" lang="pt-BR" sz="2200">
                <a:solidFill>
                  <a:srgbClr val="B41B26"/>
                </a:solidFill>
              </a:rPr>
              <a:t> - Primeira Forma Normal (</a:t>
            </a:r>
            <a:r>
              <a:rPr lang="pt-BR" sz="2200">
                <a:solidFill>
                  <a:srgbClr val="B41B26"/>
                </a:solidFill>
              </a:rPr>
              <a:t>Atomicidade</a:t>
            </a:r>
            <a:r>
              <a:rPr b="0" lang="pt-BR" sz="2200">
                <a:solidFill>
                  <a:srgbClr val="B41B26"/>
                </a:solidFill>
              </a:rPr>
              <a:t>)</a:t>
            </a:r>
            <a:endParaRPr b="0"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f13bc3da_0_82"/>
          <p:cNvSpPr txBox="1"/>
          <p:nvPr>
            <p:ph idx="1" type="subTitle"/>
          </p:nvPr>
        </p:nvSpPr>
        <p:spPr>
          <a:xfrm>
            <a:off x="979050" y="1468575"/>
            <a:ext cx="10260900" cy="49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Regra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Uma tabela está na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2FN 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ela já estiver na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1FN 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 não possuir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dependências parciais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 Todos os atributos não-chave devem depender de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TODA 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chave primária, e não apenas de uma parte dela. (Aplica-se principalmente a tabelas com chaves compostas).</a:t>
            </a:r>
            <a:endParaRPr i="1"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Problema na 1FN: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Na tabela associativa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Alocações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, a </a:t>
            </a:r>
            <a:r>
              <a:rPr b="1"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Chave Primária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é 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composta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por (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id_func, id_projeto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Se tivermos uma coluna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nome_projeto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nesta tabela, ela dependeria apenas do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id_projeto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, gerando redundância se vários funcionários estiverem no mesmo projeto.</a:t>
            </a:r>
            <a:endParaRPr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Solução na 2FN: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nome_projeto deve ser movido para uma tabela autônoma Projetos com PK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id_projeto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g3f6f13bc3da_0_8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2FN </a:t>
            </a:r>
            <a:r>
              <a:rPr b="0" lang="pt-BR" sz="2200">
                <a:solidFill>
                  <a:srgbClr val="B41B26"/>
                </a:solidFill>
              </a:rPr>
              <a:t>- Segunda Forma Normal </a:t>
            </a:r>
            <a:r>
              <a:rPr lang="pt-BR" sz="2200">
                <a:solidFill>
                  <a:srgbClr val="B41B26"/>
                </a:solidFill>
              </a:rPr>
              <a:t>(Dependência Parcial)</a:t>
            </a:r>
            <a:endParaRPr b="0"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f13bc3da_0_87"/>
          <p:cNvSpPr txBox="1"/>
          <p:nvPr>
            <p:ph idx="1" type="subTitle"/>
          </p:nvPr>
        </p:nvSpPr>
        <p:spPr>
          <a:xfrm>
            <a:off x="979050" y="1468575"/>
            <a:ext cx="10260900" cy="49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Regra</a:t>
            </a:r>
            <a:r>
              <a:rPr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Uma tabela está na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3FN 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 ela já estiver na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2FN 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 não possuir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dependências transitivas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 Atributos não-chave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NÃO PODEM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determinar ou depender de outros atributos não-chave. Todo atributo deve depender apenas da </a:t>
            </a:r>
            <a:r>
              <a:rPr b="1"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Chave Primária</a:t>
            </a:r>
            <a:r>
              <a:rPr i="1" lang="pt-BR" sz="20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i="1"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Problema na 1FN: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Na tabela de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Funcionarios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, o CPF determina o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Cargo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, e o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Cargo 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determina o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Salario_Base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. Se o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Cargo 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muda, o salário base muda. Há uma dependência transitiva: </a:t>
            </a:r>
            <a:r>
              <a:rPr b="1"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CPF -&gt; Cargo -&gt; Salario_Base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 mesmo vale para o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Departamento 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 sua </a:t>
            </a:r>
            <a:r>
              <a:rPr i="1"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Localização</a:t>
            </a:r>
            <a:r>
              <a:rPr lang="pt-BR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Solução na 3FN: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Isolamos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Cargos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Departamentos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Planos_Saude 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em tabelas separadas e substituímos seus dados reais por chaves estrangeiras (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IDs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 dentro da tabela de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Funcionarios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f6f13bc3da_0_87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3FN</a:t>
            </a:r>
            <a:r>
              <a:rPr b="0" lang="pt-BR" sz="2200">
                <a:solidFill>
                  <a:srgbClr val="B41B26"/>
                </a:solidFill>
              </a:rPr>
              <a:t> - Terceira Forma Normal</a:t>
            </a:r>
            <a:r>
              <a:rPr lang="pt-BR" sz="2200">
                <a:solidFill>
                  <a:srgbClr val="B41B26"/>
                </a:solidFill>
              </a:rPr>
              <a:t> (Dependência Transitiva)</a:t>
            </a:r>
            <a:endParaRPr b="0"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6f13bc3da_0_92"/>
          <p:cNvSpPr txBox="1"/>
          <p:nvPr>
            <p:ph idx="1" type="subTitle"/>
          </p:nvPr>
        </p:nvSpPr>
        <p:spPr>
          <a:xfrm>
            <a:off x="979050" y="1468575"/>
            <a:ext cx="10260900" cy="49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arquitetura final do Banco de Dados Relacional da TechPeople:</a:t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5029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Insight Executivo: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Note que cada fato </a:t>
            </a:r>
            <a:r>
              <a:rPr b="1" lang="pt-BR" u="sng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está isolado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 O salário base só existe em UM único lugar (tabela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Cargos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). Assim, ao mudar o salário de um cargo vai impactar centenas de funcionários sem duplicar uma única linha de informação.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g3f6f13bc3da_0_9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Diagrama Entidade-Relacionamento Resultante (3FN)</a:t>
            </a:r>
            <a:endParaRPr b="0" sz="2200">
              <a:solidFill>
                <a:srgbClr val="B41B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233" name="Google Shape;233;g3f6f13bc3da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025" y="1851775"/>
            <a:ext cx="5047205" cy="49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2023-12-21T18:31:02Z</dcterms:created>
  <dc:creator>Ester Margotto Montebeler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0x0101008C19AB3E6619E54BB6D98946A8919BCB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